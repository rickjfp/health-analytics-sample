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63" r:id="rId4"/>
    <p:sldId id="265" r:id="rId5"/>
    <p:sldId id="266" r:id="rId6"/>
    <p:sldId id="267" r:id="rId7"/>
    <p:sldId id="259"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k Pflasterer" userId="313b3f47632923ee" providerId="LiveId" clId="{6E8434D9-849C-4454-8683-ECA77764B9D9}"/>
    <pc:docChg chg="modSld">
      <pc:chgData name="Rick Pflasterer" userId="313b3f47632923ee" providerId="LiveId" clId="{6E8434D9-849C-4454-8683-ECA77764B9D9}" dt="2025-06-05T20:17:22.072" v="6" actId="20577"/>
      <pc:docMkLst>
        <pc:docMk/>
      </pc:docMkLst>
      <pc:sldChg chg="modSp mod">
        <pc:chgData name="Rick Pflasterer" userId="313b3f47632923ee" providerId="LiveId" clId="{6E8434D9-849C-4454-8683-ECA77764B9D9}" dt="2025-06-05T20:17:13.602" v="0" actId="20577"/>
        <pc:sldMkLst>
          <pc:docMk/>
          <pc:sldMk cId="1826138451" sldId="267"/>
        </pc:sldMkLst>
        <pc:spChg chg="mod">
          <ac:chgData name="Rick Pflasterer" userId="313b3f47632923ee" providerId="LiveId" clId="{6E8434D9-849C-4454-8683-ECA77764B9D9}" dt="2025-06-05T20:17:13.602" v="0" actId="20577"/>
          <ac:spMkLst>
            <pc:docMk/>
            <pc:sldMk cId="1826138451" sldId="267"/>
            <ac:spMk id="4" creationId="{BF035B05-1FAD-CD9D-CDF7-E2C9C53A32E8}"/>
          </ac:spMkLst>
        </pc:spChg>
      </pc:sldChg>
      <pc:sldChg chg="modSp mod">
        <pc:chgData name="Rick Pflasterer" userId="313b3f47632923ee" providerId="LiveId" clId="{6E8434D9-849C-4454-8683-ECA77764B9D9}" dt="2025-06-05T20:17:22.072" v="6" actId="20577"/>
        <pc:sldMkLst>
          <pc:docMk/>
          <pc:sldMk cId="812362991" sldId="268"/>
        </pc:sldMkLst>
        <pc:spChg chg="mod">
          <ac:chgData name="Rick Pflasterer" userId="313b3f47632923ee" providerId="LiveId" clId="{6E8434D9-849C-4454-8683-ECA77764B9D9}" dt="2025-06-05T20:17:22.072" v="6" actId="20577"/>
          <ac:spMkLst>
            <pc:docMk/>
            <pc:sldMk cId="812362991" sldId="268"/>
            <ac:spMk id="4" creationId="{316A84A4-C946-7A7B-36A6-D42A3D805F9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C79DC-F3E1-4BC5-EB9C-01984A35BD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9A3CA7-6ADC-A513-8D58-2A92C42F24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5D8F71-8782-37FA-2E58-311FF6EA1ABE}"/>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5" name="Footer Placeholder 4">
            <a:extLst>
              <a:ext uri="{FF2B5EF4-FFF2-40B4-BE49-F238E27FC236}">
                <a16:creationId xmlns:a16="http://schemas.microsoft.com/office/drawing/2014/main" id="{778753DE-041C-FD94-AAED-E156BF8A12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B5ACF5-A826-7ED4-29A8-2166C54CBE7F}"/>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3358173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182F-4C14-C280-46C0-0036FD6F15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E71717-1D9B-BFBA-56D5-77DE3959C5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C4EFB-AC4B-D35B-60B1-8F9BEF1E71F1}"/>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5" name="Footer Placeholder 4">
            <a:extLst>
              <a:ext uri="{FF2B5EF4-FFF2-40B4-BE49-F238E27FC236}">
                <a16:creationId xmlns:a16="http://schemas.microsoft.com/office/drawing/2014/main" id="{033B22BE-466B-095B-514B-B02B7EC075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63FB0-0E6B-4675-721C-01C95D7EFAE5}"/>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4130467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63AB1-2C74-E629-A412-22915B7406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C5AE78-47E2-13D6-B101-AB9F578E16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F8E6CE-9A54-76DD-C6D6-4E1FEA64AD73}"/>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5" name="Footer Placeholder 4">
            <a:extLst>
              <a:ext uri="{FF2B5EF4-FFF2-40B4-BE49-F238E27FC236}">
                <a16:creationId xmlns:a16="http://schemas.microsoft.com/office/drawing/2014/main" id="{DB9BCCDD-FF2A-DDAE-CB4B-52E60C423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EBA8AB-82B9-861C-C0A6-0997099EFD06}"/>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2116633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F7E5F-B080-B29C-CA4A-078F86D7FF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D989D2-F109-95FC-F2EF-DBD348D252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B0C40C-5E9A-FC0D-8019-EC281F90AD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39F982-5944-EE17-9F2A-EADD1F96A08E}"/>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6" name="Footer Placeholder 5">
            <a:extLst>
              <a:ext uri="{FF2B5EF4-FFF2-40B4-BE49-F238E27FC236}">
                <a16:creationId xmlns:a16="http://schemas.microsoft.com/office/drawing/2014/main" id="{442E5915-287B-8B1C-1EDF-4C37552494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6227B4-5193-AA60-805F-ED21F2F4A240}"/>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2136366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3AC69-1871-3E96-F5AD-52C9C1320B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875F48-36FF-ACEE-57EE-7989D9DEA8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33548F-0C05-C84D-7106-E52D0E4BFE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6A0472-61A1-7334-689E-BDF76AD904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0036E0-AD16-607E-02C1-ACE1F7C958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12EADB-1899-CC43-47F1-935C85B8457B}"/>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8" name="Footer Placeholder 7">
            <a:extLst>
              <a:ext uri="{FF2B5EF4-FFF2-40B4-BE49-F238E27FC236}">
                <a16:creationId xmlns:a16="http://schemas.microsoft.com/office/drawing/2014/main" id="{960CEDDE-013C-E6C8-A183-13445364C7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DA0BEB-A947-8197-187D-D16057DBBE18}"/>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2804212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4CE3D-B1C3-E17A-07D1-D21CD06999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D8FF56-969B-0E6A-4CED-73AB8AF3C254}"/>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4" name="Footer Placeholder 3">
            <a:extLst>
              <a:ext uri="{FF2B5EF4-FFF2-40B4-BE49-F238E27FC236}">
                <a16:creationId xmlns:a16="http://schemas.microsoft.com/office/drawing/2014/main" id="{FEF5D1FB-1F0E-D1C9-D2CC-E62D902546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0775E6-FBF2-04DA-B1B6-5D92D0934338}"/>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2738419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094907-695B-3A34-AAFA-F0F9C0ABC88F}"/>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3" name="Footer Placeholder 2">
            <a:extLst>
              <a:ext uri="{FF2B5EF4-FFF2-40B4-BE49-F238E27FC236}">
                <a16:creationId xmlns:a16="http://schemas.microsoft.com/office/drawing/2014/main" id="{E6B5BA83-B0BA-DCA3-CB92-22239F17C0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401A0F-E4DB-5FAB-06F6-C9FF079CA85B}"/>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2464457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0301B-1B4B-D12C-6624-1921FE5080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214848-D37D-B118-B325-403EDAE01E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E7F113-B110-203C-0DA1-0F1A19CFF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8D4155-9649-7432-9321-A0533E8C68A2}"/>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6" name="Footer Placeholder 5">
            <a:extLst>
              <a:ext uri="{FF2B5EF4-FFF2-40B4-BE49-F238E27FC236}">
                <a16:creationId xmlns:a16="http://schemas.microsoft.com/office/drawing/2014/main" id="{B7D67754-9C02-E666-7CCB-F8B8697937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365A4A-7134-5151-328D-F0C9CAB8488C}"/>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201804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68D8E-FF3C-72B8-1CD2-64B5FFD32F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4717E3-F949-BF85-A8C9-D85184F7D4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F6F5BD-2ADF-EB4D-E8CA-966CAE732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7F7EBF-4A88-EF18-1302-9D46BA48BF72}"/>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6" name="Footer Placeholder 5">
            <a:extLst>
              <a:ext uri="{FF2B5EF4-FFF2-40B4-BE49-F238E27FC236}">
                <a16:creationId xmlns:a16="http://schemas.microsoft.com/office/drawing/2014/main" id="{3B276C9A-B25C-0EB2-E3B0-50544544C9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2C54CB-EA6E-0993-CA4D-0DF8DC209949}"/>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2365071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46338-A5DF-F6BF-0FE9-3BEBCC00E9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C090F9-D101-B180-DAD4-2D01875AD0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6B2CE5-471D-1F3F-A84F-861A74C25ED2}"/>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5" name="Footer Placeholder 4">
            <a:extLst>
              <a:ext uri="{FF2B5EF4-FFF2-40B4-BE49-F238E27FC236}">
                <a16:creationId xmlns:a16="http://schemas.microsoft.com/office/drawing/2014/main" id="{BC0FE6D1-1464-DFBF-A008-74A70BA7E5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C761DA-21BE-336C-50E0-79AE6C40A625}"/>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1808791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8032F4-8240-D12E-CDF4-2C154BB933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BBB310-6C39-4675-44E7-D6458F47BC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885581-2D2E-9584-D23B-BA01BD4E0616}"/>
              </a:ext>
            </a:extLst>
          </p:cNvPr>
          <p:cNvSpPr>
            <a:spLocks noGrp="1"/>
          </p:cNvSpPr>
          <p:nvPr>
            <p:ph type="dt" sz="half" idx="10"/>
          </p:nvPr>
        </p:nvSpPr>
        <p:spPr/>
        <p:txBody>
          <a:bodyPr/>
          <a:lstStyle/>
          <a:p>
            <a:fld id="{83D60E67-656F-40BF-B573-808BB6D63C2B}" type="datetimeFigureOut">
              <a:rPr lang="en-US" smtClean="0"/>
              <a:t>6/5/2025</a:t>
            </a:fld>
            <a:endParaRPr lang="en-US"/>
          </a:p>
        </p:txBody>
      </p:sp>
      <p:sp>
        <p:nvSpPr>
          <p:cNvPr id="5" name="Footer Placeholder 4">
            <a:extLst>
              <a:ext uri="{FF2B5EF4-FFF2-40B4-BE49-F238E27FC236}">
                <a16:creationId xmlns:a16="http://schemas.microsoft.com/office/drawing/2014/main" id="{50725E6C-7FA1-87AA-4106-63FDD4A8EB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CA8C1-FB94-7D99-5B5D-09FD4FEB5015}"/>
              </a:ext>
            </a:extLst>
          </p:cNvPr>
          <p:cNvSpPr>
            <a:spLocks noGrp="1"/>
          </p:cNvSpPr>
          <p:nvPr>
            <p:ph type="sldNum" sz="quarter" idx="12"/>
          </p:nvPr>
        </p:nvSpPr>
        <p:spPr/>
        <p:txBody>
          <a:bodyPr/>
          <a:lstStyle/>
          <a:p>
            <a:fld id="{4B56B0D3-4A20-4415-B0D3-AE94360AE2CC}" type="slidenum">
              <a:rPr lang="en-US" smtClean="0"/>
              <a:t>‹#›</a:t>
            </a:fld>
            <a:endParaRPr lang="en-US"/>
          </a:p>
        </p:txBody>
      </p:sp>
    </p:spTree>
    <p:extLst>
      <p:ext uri="{BB962C8B-B14F-4D97-AF65-F5344CB8AC3E}">
        <p14:creationId xmlns:p14="http://schemas.microsoft.com/office/powerpoint/2010/main" val="853489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87C3EA-634B-6546-1B8E-40992A7F5E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62EA11-8BE7-7D71-7BB1-CEF3B2125E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551ACD-91CA-1E03-14CD-6E4E789B22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D60E67-656F-40BF-B573-808BB6D63C2B}" type="datetimeFigureOut">
              <a:rPr lang="en-US" smtClean="0"/>
              <a:t>6/5/2025</a:t>
            </a:fld>
            <a:endParaRPr lang="en-US"/>
          </a:p>
        </p:txBody>
      </p:sp>
      <p:sp>
        <p:nvSpPr>
          <p:cNvPr id="5" name="Footer Placeholder 4">
            <a:extLst>
              <a:ext uri="{FF2B5EF4-FFF2-40B4-BE49-F238E27FC236}">
                <a16:creationId xmlns:a16="http://schemas.microsoft.com/office/drawing/2014/main" id="{91F9783D-C65E-7214-8DF9-3F10D4A8B3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9AC36B-24B5-E988-5272-B12DBF8C7C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56B0D3-4A20-4415-B0D3-AE94360AE2CC}" type="slidenum">
              <a:rPr lang="en-US" smtClean="0"/>
              <a:t>‹#›</a:t>
            </a:fld>
            <a:endParaRPr lang="en-US"/>
          </a:p>
        </p:txBody>
      </p:sp>
    </p:spTree>
    <p:extLst>
      <p:ext uri="{BB962C8B-B14F-4D97-AF65-F5344CB8AC3E}">
        <p14:creationId xmlns:p14="http://schemas.microsoft.com/office/powerpoint/2010/main" val="3085992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ookerstudio.google.com/reporting/b086d274-ceda-48d7-9d10-4ef5c6665f4a"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lookerstudio.google.com/reporting/b086d274-ceda-48d7-9d10-4ef5c6665f4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CF641-5C26-EA1E-F81C-A18EBCC30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186FE-A66C-C102-3590-1928DE077912}"/>
              </a:ext>
            </a:extLst>
          </p:cNvPr>
          <p:cNvSpPr>
            <a:spLocks noGrp="1"/>
          </p:cNvSpPr>
          <p:nvPr>
            <p:ph type="title"/>
          </p:nvPr>
        </p:nvSpPr>
        <p:spPr>
          <a:xfrm>
            <a:off x="838200" y="365125"/>
            <a:ext cx="10515600" cy="766989"/>
          </a:xfrm>
        </p:spPr>
        <p:txBody>
          <a:bodyPr>
            <a:normAutofit/>
          </a:bodyPr>
          <a:lstStyle/>
          <a:p>
            <a:r>
              <a:rPr lang="en-US" dirty="0">
                <a:ln w="0"/>
                <a:solidFill>
                  <a:schemeClr val="accent1"/>
                </a:solidFill>
                <a:effectLst>
                  <a:outerShdw blurRad="38100" dist="25400" dir="5400000" algn="ctr" rotWithShape="0">
                    <a:srgbClr val="6E747A">
                      <a:alpha val="43000"/>
                    </a:srgbClr>
                  </a:outerShdw>
                </a:effectLst>
              </a:rPr>
              <a:t>Prompt 1a</a:t>
            </a:r>
          </a:p>
        </p:txBody>
      </p:sp>
      <p:sp>
        <p:nvSpPr>
          <p:cNvPr id="4" name="Content Placeholder 3">
            <a:extLst>
              <a:ext uri="{FF2B5EF4-FFF2-40B4-BE49-F238E27FC236}">
                <a16:creationId xmlns:a16="http://schemas.microsoft.com/office/drawing/2014/main" id="{3B641B7F-AC13-11D1-F3EB-A6E48ABF0211}"/>
              </a:ext>
            </a:extLst>
          </p:cNvPr>
          <p:cNvSpPr>
            <a:spLocks noGrp="1"/>
          </p:cNvSpPr>
          <p:nvPr>
            <p:ph idx="1"/>
          </p:nvPr>
        </p:nvSpPr>
        <p:spPr>
          <a:xfrm>
            <a:off x="838200" y="1231283"/>
            <a:ext cx="10515600" cy="1009310"/>
          </a:xfrm>
        </p:spPr>
        <p:txBody>
          <a:bodyPr>
            <a:normAutofit/>
          </a:bodyPr>
          <a:lstStyle/>
          <a:p>
            <a:pPr marL="0" indent="0">
              <a:buNone/>
            </a:pPr>
            <a:r>
              <a:rPr lang="en-US" sz="2000" dirty="0">
                <a:solidFill>
                  <a:schemeClr val="tx1">
                    <a:lumMod val="65000"/>
                    <a:lumOff val="35000"/>
                  </a:schemeClr>
                </a:solidFill>
              </a:rPr>
              <a:t>Construct an aggregate provider table(s) (using NPI as a unique identifier). </a:t>
            </a:r>
          </a:p>
          <a:p>
            <a:pPr marL="342900" indent="-342900">
              <a:buFont typeface="+mj-lt"/>
              <a:buAutoNum type="arabicPeriod"/>
            </a:pPr>
            <a:r>
              <a:rPr lang="en-US" sz="1400" dirty="0">
                <a:solidFill>
                  <a:schemeClr val="tx1">
                    <a:lumMod val="65000"/>
                    <a:lumOff val="35000"/>
                  </a:schemeClr>
                </a:solidFill>
              </a:rPr>
              <a:t>Allow Product, Clinical, and Operations teams to easily gain insight and answer business questions about these providers.</a:t>
            </a:r>
          </a:p>
          <a:p>
            <a:pPr marL="342900" indent="-342900">
              <a:buFont typeface="+mj-lt"/>
              <a:buAutoNum type="arabicPeriod"/>
            </a:pPr>
            <a:r>
              <a:rPr lang="en-US" sz="1400" dirty="0">
                <a:solidFill>
                  <a:schemeClr val="tx1">
                    <a:lumMod val="65000"/>
                    <a:lumOff val="35000"/>
                  </a:schemeClr>
                </a:solidFill>
              </a:rPr>
              <a:t>Serve as a feature store to feed machine learning models</a:t>
            </a:r>
          </a:p>
        </p:txBody>
      </p:sp>
      <p:grpSp>
        <p:nvGrpSpPr>
          <p:cNvPr id="14" name="Group 13">
            <a:extLst>
              <a:ext uri="{FF2B5EF4-FFF2-40B4-BE49-F238E27FC236}">
                <a16:creationId xmlns:a16="http://schemas.microsoft.com/office/drawing/2014/main" id="{3C550AEC-1830-A30B-88FF-199E04614004}"/>
              </a:ext>
            </a:extLst>
          </p:cNvPr>
          <p:cNvGrpSpPr/>
          <p:nvPr/>
        </p:nvGrpSpPr>
        <p:grpSpPr>
          <a:xfrm>
            <a:off x="6559231" y="2501332"/>
            <a:ext cx="3303226" cy="3704337"/>
            <a:chOff x="5646838" y="2252337"/>
            <a:chExt cx="3597440" cy="4240538"/>
          </a:xfrm>
        </p:grpSpPr>
        <p:pic>
          <p:nvPicPr>
            <p:cNvPr id="6" name="Picture 5">
              <a:extLst>
                <a:ext uri="{FF2B5EF4-FFF2-40B4-BE49-F238E27FC236}">
                  <a16:creationId xmlns:a16="http://schemas.microsoft.com/office/drawing/2014/main" id="{8230F1B4-5E40-C8A5-E3BF-FFECCA5116DC}"/>
                </a:ext>
              </a:extLst>
            </p:cNvPr>
            <p:cNvPicPr>
              <a:picLocks noChangeAspect="1"/>
            </p:cNvPicPr>
            <p:nvPr/>
          </p:nvPicPr>
          <p:blipFill>
            <a:blip r:embed="rId2"/>
            <a:stretch>
              <a:fillRect/>
            </a:stretch>
          </p:blipFill>
          <p:spPr>
            <a:xfrm>
              <a:off x="6096000" y="2252337"/>
              <a:ext cx="3148278" cy="4240538"/>
            </a:xfrm>
            <a:prstGeom prst="rect">
              <a:avLst/>
            </a:prstGeom>
          </p:spPr>
        </p:pic>
        <p:sp>
          <p:nvSpPr>
            <p:cNvPr id="7" name="TextBox 6">
              <a:extLst>
                <a:ext uri="{FF2B5EF4-FFF2-40B4-BE49-F238E27FC236}">
                  <a16:creationId xmlns:a16="http://schemas.microsoft.com/office/drawing/2014/main" id="{35E6DD3E-6044-B2E3-8220-B5724074B505}"/>
                </a:ext>
              </a:extLst>
            </p:cNvPr>
            <p:cNvSpPr txBox="1"/>
            <p:nvPr/>
          </p:nvSpPr>
          <p:spPr>
            <a:xfrm>
              <a:off x="5646838" y="2511539"/>
              <a:ext cx="449162" cy="276999"/>
            </a:xfrm>
            <a:prstGeom prst="rect">
              <a:avLst/>
            </a:prstGeom>
            <a:noFill/>
          </p:spPr>
          <p:txBody>
            <a:bodyPr wrap="square" rtlCol="0">
              <a:spAutoFit/>
            </a:bodyPr>
            <a:lstStyle/>
            <a:p>
              <a:r>
                <a:rPr lang="en-US" sz="1200" dirty="0">
                  <a:solidFill>
                    <a:srgbClr val="FF0000"/>
                  </a:solidFill>
                </a:rPr>
                <a:t>PK</a:t>
              </a:r>
            </a:p>
          </p:txBody>
        </p:sp>
        <p:sp>
          <p:nvSpPr>
            <p:cNvPr id="8" name="TextBox 7">
              <a:extLst>
                <a:ext uri="{FF2B5EF4-FFF2-40B4-BE49-F238E27FC236}">
                  <a16:creationId xmlns:a16="http://schemas.microsoft.com/office/drawing/2014/main" id="{8977A372-B281-795C-7F10-3F32D1138BFF}"/>
                </a:ext>
              </a:extLst>
            </p:cNvPr>
            <p:cNvSpPr txBox="1"/>
            <p:nvPr/>
          </p:nvSpPr>
          <p:spPr>
            <a:xfrm>
              <a:off x="5646838" y="4234106"/>
              <a:ext cx="449162" cy="276999"/>
            </a:xfrm>
            <a:prstGeom prst="rect">
              <a:avLst/>
            </a:prstGeom>
            <a:noFill/>
          </p:spPr>
          <p:txBody>
            <a:bodyPr wrap="square" rtlCol="0">
              <a:spAutoFit/>
            </a:bodyPr>
            <a:lstStyle/>
            <a:p>
              <a:r>
                <a:rPr lang="en-US" sz="1200" dirty="0">
                  <a:solidFill>
                    <a:srgbClr val="FF0000"/>
                  </a:solidFill>
                </a:rPr>
                <a:t>PK</a:t>
              </a:r>
            </a:p>
          </p:txBody>
        </p:sp>
      </p:grpSp>
      <p:grpSp>
        <p:nvGrpSpPr>
          <p:cNvPr id="15" name="Group 14">
            <a:extLst>
              <a:ext uri="{FF2B5EF4-FFF2-40B4-BE49-F238E27FC236}">
                <a16:creationId xmlns:a16="http://schemas.microsoft.com/office/drawing/2014/main" id="{76696966-EC90-C3DD-9294-842F4C933CBD}"/>
              </a:ext>
            </a:extLst>
          </p:cNvPr>
          <p:cNvGrpSpPr/>
          <p:nvPr/>
        </p:nvGrpSpPr>
        <p:grpSpPr>
          <a:xfrm>
            <a:off x="1191120" y="2662902"/>
            <a:ext cx="4441650" cy="3829973"/>
            <a:chOff x="796670" y="2788538"/>
            <a:chExt cx="4029222" cy="3704337"/>
          </a:xfrm>
        </p:grpSpPr>
        <p:pic>
          <p:nvPicPr>
            <p:cNvPr id="12" name="Picture 11">
              <a:hlinkClick r:id="rId3"/>
              <a:extLst>
                <a:ext uri="{FF2B5EF4-FFF2-40B4-BE49-F238E27FC236}">
                  <a16:creationId xmlns:a16="http://schemas.microsoft.com/office/drawing/2014/main" id="{3BAF7542-8A18-0A40-765B-393FF4161A61}"/>
                </a:ext>
              </a:extLst>
            </p:cNvPr>
            <p:cNvPicPr>
              <a:picLocks noChangeAspect="1"/>
            </p:cNvPicPr>
            <p:nvPr/>
          </p:nvPicPr>
          <p:blipFill>
            <a:blip r:embed="rId4"/>
            <a:stretch>
              <a:fillRect/>
            </a:stretch>
          </p:blipFill>
          <p:spPr>
            <a:xfrm>
              <a:off x="834860" y="3527650"/>
              <a:ext cx="3991032" cy="2965225"/>
            </a:xfrm>
            <a:prstGeom prst="rect">
              <a:avLst/>
            </a:prstGeom>
          </p:spPr>
        </p:pic>
        <p:sp>
          <p:nvSpPr>
            <p:cNvPr id="13" name="Content Placeholder 3">
              <a:extLst>
                <a:ext uri="{FF2B5EF4-FFF2-40B4-BE49-F238E27FC236}">
                  <a16:creationId xmlns:a16="http://schemas.microsoft.com/office/drawing/2014/main" id="{529E41C0-0AB3-1C23-965A-0D344BECAFC8}"/>
                </a:ext>
              </a:extLst>
            </p:cNvPr>
            <p:cNvSpPr txBox="1">
              <a:spLocks/>
            </p:cNvSpPr>
            <p:nvPr/>
          </p:nvSpPr>
          <p:spPr>
            <a:xfrm>
              <a:off x="796670" y="2788538"/>
              <a:ext cx="4029222" cy="1009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Answers to procedures performed, costs, outcomes, and demand. </a:t>
              </a:r>
              <a:r>
                <a:rPr lang="en-US" sz="1600" i="1" u="sng" dirty="0">
                  <a:solidFill>
                    <a:schemeClr val="accent5">
                      <a:lumMod val="75000"/>
                    </a:schemeClr>
                  </a:solidFill>
                </a:rPr>
                <a:t>*click photo for link*</a:t>
              </a:r>
            </a:p>
          </p:txBody>
        </p:sp>
      </p:grpSp>
    </p:spTree>
    <p:extLst>
      <p:ext uri="{BB962C8B-B14F-4D97-AF65-F5344CB8AC3E}">
        <p14:creationId xmlns:p14="http://schemas.microsoft.com/office/powerpoint/2010/main" val="1870678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B803F-111F-386F-82BD-94C59CDD9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32E3A-7075-73A7-52FC-DA36DF5BEB7E}"/>
              </a:ext>
            </a:extLst>
          </p:cNvPr>
          <p:cNvSpPr>
            <a:spLocks noGrp="1"/>
          </p:cNvSpPr>
          <p:nvPr>
            <p:ph type="title"/>
          </p:nvPr>
        </p:nvSpPr>
        <p:spPr>
          <a:xfrm>
            <a:off x="838200" y="365125"/>
            <a:ext cx="10515600" cy="766989"/>
          </a:xfrm>
        </p:spPr>
        <p:txBody>
          <a:bodyPr>
            <a:normAutofit/>
          </a:bodyPr>
          <a:lstStyle/>
          <a:p>
            <a:r>
              <a:rPr lang="en-US" dirty="0">
                <a:ln w="0"/>
                <a:solidFill>
                  <a:schemeClr val="accent1"/>
                </a:solidFill>
                <a:effectLst>
                  <a:outerShdw blurRad="38100" dist="25400" dir="5400000" algn="ctr" rotWithShape="0">
                    <a:srgbClr val="6E747A">
                      <a:alpha val="43000"/>
                    </a:srgbClr>
                  </a:outerShdw>
                </a:effectLst>
              </a:rPr>
              <a:t>Prompt 1b</a:t>
            </a:r>
          </a:p>
        </p:txBody>
      </p:sp>
      <p:sp>
        <p:nvSpPr>
          <p:cNvPr id="4" name="Content Placeholder 3">
            <a:extLst>
              <a:ext uri="{FF2B5EF4-FFF2-40B4-BE49-F238E27FC236}">
                <a16:creationId xmlns:a16="http://schemas.microsoft.com/office/drawing/2014/main" id="{A2C9ECAF-2237-263E-3558-CF5A66C898BD}"/>
              </a:ext>
            </a:extLst>
          </p:cNvPr>
          <p:cNvSpPr>
            <a:spLocks noGrp="1"/>
          </p:cNvSpPr>
          <p:nvPr>
            <p:ph idx="1"/>
          </p:nvPr>
        </p:nvSpPr>
        <p:spPr>
          <a:xfrm>
            <a:off x="838200" y="1502229"/>
            <a:ext cx="10515600" cy="4674734"/>
          </a:xfrm>
        </p:spPr>
        <p:txBody>
          <a:bodyPr>
            <a:normAutofit/>
          </a:bodyPr>
          <a:lstStyle/>
          <a:p>
            <a:pPr marL="0" indent="0">
              <a:buNone/>
            </a:pPr>
            <a:r>
              <a:rPr lang="en-US" sz="2000" dirty="0">
                <a:solidFill>
                  <a:schemeClr val="tx1">
                    <a:lumMod val="65000"/>
                    <a:lumOff val="35000"/>
                  </a:schemeClr>
                </a:solidFill>
              </a:rPr>
              <a:t>Please share any high-level thinking on design decisions you made during construction of this table (no more than a paragraph is required).</a:t>
            </a:r>
          </a:p>
          <a:p>
            <a:pPr marL="0" indent="0">
              <a:buNone/>
            </a:pPr>
            <a:endParaRPr lang="en-US" sz="2000" dirty="0"/>
          </a:p>
          <a:p>
            <a:r>
              <a:rPr lang="en-US" sz="2000" b="1" dirty="0"/>
              <a:t>Cloud Environment</a:t>
            </a:r>
          </a:p>
          <a:p>
            <a:pPr lvl="1"/>
            <a:r>
              <a:rPr lang="en-US" sz="1600" b="1" dirty="0"/>
              <a:t>Usability</a:t>
            </a:r>
            <a:r>
              <a:rPr lang="en-US" sz="1600" dirty="0"/>
              <a:t> – non-normalized ‘flat’ tables are easier for analysts to pickup and interpret.</a:t>
            </a:r>
          </a:p>
          <a:p>
            <a:pPr lvl="1"/>
            <a:r>
              <a:rPr lang="en-US" sz="1600" b="1" dirty="0"/>
              <a:t>Efficiency</a:t>
            </a:r>
            <a:r>
              <a:rPr lang="en-US" sz="1600" dirty="0"/>
              <a:t> – pay premium for processing and storage is relatively inexpensive – star schema joins can be more expensive than querying flat table directly.</a:t>
            </a:r>
          </a:p>
          <a:p>
            <a:pPr lvl="1"/>
            <a:r>
              <a:rPr lang="en-US" sz="1600" b="1" dirty="0"/>
              <a:t>Data Layers </a:t>
            </a:r>
            <a:r>
              <a:rPr lang="en-US" sz="1600" dirty="0"/>
              <a:t>– flexibility and stability: staging tables for key concepts and building metrics in the analytics layer rather than in dashboards for flexibility.</a:t>
            </a:r>
          </a:p>
          <a:p>
            <a:r>
              <a:rPr lang="en-US" sz="2000" b="1" dirty="0"/>
              <a:t>Table Granularity</a:t>
            </a:r>
          </a:p>
          <a:p>
            <a:pPr lvl="1"/>
            <a:r>
              <a:rPr lang="en-US" sz="1600" b="1" dirty="0"/>
              <a:t>Row vs. Column Extensibility </a:t>
            </a:r>
            <a:r>
              <a:rPr lang="en-US" sz="1600" dirty="0"/>
              <a:t>– CPT as a Primary Key field to use as a dimension + easier adoption of new values.</a:t>
            </a:r>
          </a:p>
          <a:p>
            <a:pPr lvl="1"/>
            <a:r>
              <a:rPr lang="en-US" sz="1600" b="1" dirty="0"/>
              <a:t>Rollup vs. Drilldown </a:t>
            </a:r>
            <a:r>
              <a:rPr lang="en-US" sz="1600" dirty="0"/>
              <a:t>– Controlling volume and cost vs. drilling down to patient-level data.</a:t>
            </a:r>
          </a:p>
        </p:txBody>
      </p:sp>
    </p:spTree>
    <p:extLst>
      <p:ext uri="{BB962C8B-B14F-4D97-AF65-F5344CB8AC3E}">
        <p14:creationId xmlns:p14="http://schemas.microsoft.com/office/powerpoint/2010/main" val="3177115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3903D-1C09-A39A-0D19-2FBE16937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B5FEB-ED33-7A0C-93C0-599B06A4E86B}"/>
              </a:ext>
            </a:extLst>
          </p:cNvPr>
          <p:cNvSpPr>
            <a:spLocks noGrp="1"/>
          </p:cNvSpPr>
          <p:nvPr>
            <p:ph type="title"/>
          </p:nvPr>
        </p:nvSpPr>
        <p:spPr>
          <a:xfrm>
            <a:off x="838200" y="365125"/>
            <a:ext cx="10515600" cy="766989"/>
          </a:xfrm>
        </p:spPr>
        <p:txBody>
          <a:bodyPr>
            <a:normAutofit/>
          </a:bodyPr>
          <a:lstStyle/>
          <a:p>
            <a:r>
              <a:rPr lang="en-US" dirty="0">
                <a:ln w="0"/>
                <a:solidFill>
                  <a:schemeClr val="accent1"/>
                </a:solidFill>
                <a:effectLst>
                  <a:outerShdw blurRad="38100" dist="25400" dir="5400000" algn="ctr" rotWithShape="0">
                    <a:srgbClr val="6E747A">
                      <a:alpha val="43000"/>
                    </a:srgbClr>
                  </a:outerShdw>
                </a:effectLst>
              </a:rPr>
              <a:t>Prompt 2a</a:t>
            </a:r>
          </a:p>
        </p:txBody>
      </p:sp>
      <p:sp>
        <p:nvSpPr>
          <p:cNvPr id="4" name="Content Placeholder 3">
            <a:extLst>
              <a:ext uri="{FF2B5EF4-FFF2-40B4-BE49-F238E27FC236}">
                <a16:creationId xmlns:a16="http://schemas.microsoft.com/office/drawing/2014/main" id="{D72A0399-796D-7F80-4DB0-F7CCB99EED3E}"/>
              </a:ext>
            </a:extLst>
          </p:cNvPr>
          <p:cNvSpPr>
            <a:spLocks noGrp="1"/>
          </p:cNvSpPr>
          <p:nvPr>
            <p:ph idx="1"/>
          </p:nvPr>
        </p:nvSpPr>
        <p:spPr>
          <a:xfrm>
            <a:off x="838200" y="1203327"/>
            <a:ext cx="5007429" cy="766988"/>
          </a:xfrm>
        </p:spPr>
        <p:txBody>
          <a:bodyPr>
            <a:normAutofit/>
          </a:bodyPr>
          <a:lstStyle/>
          <a:p>
            <a:pPr marL="0" indent="0">
              <a:buNone/>
            </a:pPr>
            <a:r>
              <a:rPr lang="en-US" sz="1800" dirty="0">
                <a:solidFill>
                  <a:schemeClr val="tx1">
                    <a:lumMod val="65000"/>
                    <a:lumOff val="35000"/>
                  </a:schemeClr>
                </a:solidFill>
              </a:rPr>
              <a:t>a) Construct an updated, all-time, patients table.</a:t>
            </a:r>
          </a:p>
          <a:p>
            <a:pPr marL="0" indent="0">
              <a:lnSpc>
                <a:spcPts val="1200"/>
              </a:lnSpc>
              <a:buNone/>
            </a:pPr>
            <a:endParaRPr lang="en-US" sz="1200" b="0" dirty="0">
              <a:solidFill>
                <a:srgbClr val="202124"/>
              </a:solidFill>
              <a:effectLst/>
              <a:latin typeface="Roboto Mono" panose="020F0502020204030204" pitchFamily="49" charset="0"/>
            </a:endParaRPr>
          </a:p>
          <a:p>
            <a:pPr marL="0" indent="0">
              <a:buNone/>
            </a:pPr>
            <a:endParaRPr lang="en-US" sz="1800" dirty="0"/>
          </a:p>
        </p:txBody>
      </p:sp>
      <p:sp>
        <p:nvSpPr>
          <p:cNvPr id="5" name="TextBox 4">
            <a:extLst>
              <a:ext uri="{FF2B5EF4-FFF2-40B4-BE49-F238E27FC236}">
                <a16:creationId xmlns:a16="http://schemas.microsoft.com/office/drawing/2014/main" id="{2C620E58-CF5F-5F20-7E92-A07D1A0F217D}"/>
              </a:ext>
            </a:extLst>
          </p:cNvPr>
          <p:cNvSpPr txBox="1"/>
          <p:nvPr/>
        </p:nvSpPr>
        <p:spPr>
          <a:xfrm>
            <a:off x="5943599" y="51152"/>
            <a:ext cx="5725886" cy="6755696"/>
          </a:xfrm>
          <a:prstGeom prst="rect">
            <a:avLst/>
          </a:prstGeom>
          <a:noFill/>
        </p:spPr>
        <p:txBody>
          <a:bodyPr wrap="square">
            <a:spAutoFit/>
          </a:bodyPr>
          <a:lstStyle/>
          <a:p>
            <a:pPr>
              <a:spcAft>
                <a:spcPts val="600"/>
              </a:spcAft>
            </a:pPr>
            <a:r>
              <a:rPr lang="en-US" sz="900" b="0" dirty="0">
                <a:solidFill>
                  <a:srgbClr val="1967D2"/>
                </a:solidFill>
                <a:effectLst/>
                <a:latin typeface="Roboto Mono" panose="00000009000000000000" pitchFamily="49" charset="0"/>
              </a:rPr>
              <a:t>Select</a:t>
            </a: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distinct</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a:t>
            </a:r>
            <a:r>
              <a:rPr lang="en-US" sz="900" b="0" dirty="0" err="1">
                <a:solidFill>
                  <a:srgbClr val="000000"/>
                </a:solidFill>
                <a:effectLst/>
                <a:latin typeface="Roboto Mono" panose="00000009000000000000" pitchFamily="49" charset="0"/>
              </a:rPr>
              <a:t>a.patient_id</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err="1">
                <a:solidFill>
                  <a:srgbClr val="000000"/>
                </a:solidFill>
                <a:effectLst/>
                <a:latin typeface="Roboto Mono" panose="00000009000000000000" pitchFamily="49" charset="0"/>
              </a:rPr>
              <a:t>a.gender</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err="1">
                <a:solidFill>
                  <a:srgbClr val="000000"/>
                </a:solidFill>
                <a:effectLst/>
                <a:latin typeface="Roboto Mono" panose="00000009000000000000" pitchFamily="49" charset="0"/>
              </a:rPr>
              <a:t>a.birth_date</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err="1">
                <a:solidFill>
                  <a:srgbClr val="1967D2"/>
                </a:solidFill>
                <a:effectLst/>
                <a:latin typeface="Roboto Mono" panose="00000009000000000000" pitchFamily="49" charset="0"/>
              </a:rPr>
              <a:t>date_diff</a:t>
            </a:r>
            <a:r>
              <a:rPr lang="en-US" sz="900" b="0" dirty="0">
                <a:solidFill>
                  <a:srgbClr val="3C4043"/>
                </a:solidFill>
                <a:effectLst/>
                <a:latin typeface="Roboto Mono" panose="00000009000000000000" pitchFamily="49" charset="0"/>
              </a:rPr>
              <a:t>(</a:t>
            </a:r>
            <a:r>
              <a:rPr lang="en-US" sz="900" b="0" dirty="0" err="1">
                <a:solidFill>
                  <a:srgbClr val="1967D2"/>
                </a:solidFill>
                <a:effectLst/>
                <a:latin typeface="Roboto Mono" panose="00000009000000000000" pitchFamily="49" charset="0"/>
              </a:rPr>
              <a:t>current_date</a:t>
            </a:r>
            <a:r>
              <a:rPr lang="en-US" sz="900" b="0" dirty="0">
                <a:solidFill>
                  <a:srgbClr val="3C4043"/>
                </a:solidFill>
                <a:effectLst/>
                <a:latin typeface="Roboto Mono" panose="00000009000000000000" pitchFamily="49" charset="0"/>
              </a:rPr>
              <a:t>()</a:t>
            </a:r>
            <a:r>
              <a:rPr lang="en-US" sz="900" b="0" dirty="0">
                <a:solidFill>
                  <a:srgbClr val="202124"/>
                </a:solidFill>
                <a:effectLst/>
                <a:latin typeface="Roboto Mono" panose="00000009000000000000" pitchFamily="49" charset="0"/>
              </a:rPr>
              <a:t>,</a:t>
            </a:r>
            <a:r>
              <a:rPr lang="en-US" sz="900" b="0" dirty="0" err="1">
                <a:solidFill>
                  <a:srgbClr val="000000"/>
                </a:solidFill>
                <a:effectLst/>
                <a:latin typeface="Roboto Mono" panose="00000009000000000000" pitchFamily="49" charset="0"/>
              </a:rPr>
              <a:t>birth_date</a:t>
            </a:r>
            <a:r>
              <a:rPr lang="en-US" sz="900" b="0" dirty="0" err="1">
                <a:solidFill>
                  <a:srgbClr val="202124"/>
                </a:solidFill>
                <a:effectLst/>
                <a:latin typeface="Roboto Mono" panose="00000009000000000000" pitchFamily="49" charset="0"/>
              </a:rPr>
              <a:t>,</a:t>
            </a:r>
            <a:r>
              <a:rPr lang="en-US" sz="900" b="0" dirty="0" err="1">
                <a:solidFill>
                  <a:srgbClr val="000000"/>
                </a:solidFill>
                <a:effectLst/>
                <a:latin typeface="Roboto Mono" panose="00000009000000000000" pitchFamily="49" charset="0"/>
              </a:rPr>
              <a:t>YEAR</a:t>
            </a:r>
            <a:r>
              <a:rPr lang="en-US" sz="900" b="0" dirty="0">
                <a:solidFill>
                  <a:srgbClr val="3C4043"/>
                </a:solidFill>
                <a:effectLst/>
                <a:latin typeface="Roboto Mono" panose="00000009000000000000" pitchFamily="49" charset="0"/>
              </a:rPr>
              <a:t>)</a:t>
            </a: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as</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age</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a:solidFill>
                  <a:srgbClr val="000000"/>
                </a:solidFill>
                <a:effectLst/>
                <a:latin typeface="Roboto Mono" panose="00000009000000000000" pitchFamily="49" charset="0"/>
              </a:rPr>
              <a:t>p.zip</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a:solidFill>
                  <a:srgbClr val="000000"/>
                </a:solidFill>
                <a:effectLst/>
                <a:latin typeface="Roboto Mono" panose="00000009000000000000" pitchFamily="49" charset="0"/>
              </a:rPr>
              <a:t>z.zip_1</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a:solidFill>
                  <a:srgbClr val="000000"/>
                </a:solidFill>
                <a:effectLst/>
                <a:latin typeface="Roboto Mono" panose="00000009000000000000" pitchFamily="49" charset="0"/>
              </a:rPr>
              <a:t>z.zip_2</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err="1">
                <a:solidFill>
                  <a:srgbClr val="000000"/>
                </a:solidFill>
                <a:effectLst/>
                <a:latin typeface="Roboto Mono" panose="00000009000000000000" pitchFamily="49" charset="0"/>
              </a:rPr>
              <a:t>z.city</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1967D2"/>
                </a:solidFill>
                <a:effectLst/>
                <a:latin typeface="Roboto Mono" panose="00000009000000000000" pitchFamily="49" charset="0"/>
              </a:rPr>
              <a:t>from</a:t>
            </a:r>
            <a:r>
              <a:rPr lang="en-US" sz="900" b="0" dirty="0">
                <a:solidFill>
                  <a:srgbClr val="202124"/>
                </a:solidFill>
                <a:effectLst/>
                <a:latin typeface="Roboto Mono" panose="00000009000000000000" pitchFamily="49" charset="0"/>
              </a:rPr>
              <a:t> </a:t>
            </a:r>
            <a:r>
              <a:rPr lang="en-US" sz="900" b="0" dirty="0" err="1">
                <a:solidFill>
                  <a:srgbClr val="000000"/>
                </a:solidFill>
                <a:effectLst/>
                <a:latin typeface="Roboto Mono" panose="00000009000000000000" pitchFamily="49" charset="0"/>
              </a:rPr>
              <a:t>icon_health_demo.stg_patients</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a</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1967D2"/>
                </a:solidFill>
                <a:effectLst/>
                <a:latin typeface="Roboto Mono" panose="00000009000000000000" pitchFamily="49" charset="0"/>
              </a:rPr>
              <a:t>left</a:t>
            </a: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join</a:t>
            </a:r>
            <a:r>
              <a:rPr lang="en-US" sz="900" b="0" dirty="0">
                <a:solidFill>
                  <a:srgbClr val="202124"/>
                </a:solidFill>
                <a:effectLst/>
                <a:latin typeface="Roboto Mono" panose="00000009000000000000" pitchFamily="49" charset="0"/>
              </a:rPr>
              <a:t> </a:t>
            </a:r>
            <a:r>
              <a:rPr lang="en-US" sz="900" b="0" dirty="0">
                <a:solidFill>
                  <a:srgbClr val="188038"/>
                </a:solidFill>
                <a:effectLst/>
                <a:latin typeface="Roboto Mono" panose="00000009000000000000" pitchFamily="49" charset="0"/>
              </a:rPr>
              <a:t>`</a:t>
            </a:r>
            <a:r>
              <a:rPr lang="en-US" sz="900" b="0" dirty="0" err="1">
                <a:solidFill>
                  <a:srgbClr val="188038"/>
                </a:solidFill>
                <a:effectLst/>
                <a:latin typeface="Roboto Mono" panose="00000009000000000000" pitchFamily="49" charset="0"/>
              </a:rPr>
              <a:t>icon_health_demo.stg_encounter_details</a:t>
            </a:r>
            <a:r>
              <a:rPr lang="en-US" sz="900" b="0" dirty="0">
                <a:solidFill>
                  <a:srgbClr val="188038"/>
                </a:solidFill>
                <a:effectLst/>
                <a:latin typeface="Roboto Mono" panose="00000009000000000000" pitchFamily="49" charset="0"/>
              </a:rPr>
              <a:t>`</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e</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on</a:t>
            </a:r>
            <a:r>
              <a:rPr lang="en-US" sz="900" b="0" dirty="0">
                <a:solidFill>
                  <a:srgbClr val="202124"/>
                </a:solidFill>
                <a:effectLst/>
                <a:latin typeface="Roboto Mono" panose="00000009000000000000" pitchFamily="49" charset="0"/>
              </a:rPr>
              <a:t> </a:t>
            </a:r>
            <a:r>
              <a:rPr lang="en-US" sz="900" b="0" dirty="0" err="1">
                <a:solidFill>
                  <a:srgbClr val="000000"/>
                </a:solidFill>
                <a:effectLst/>
                <a:latin typeface="Roboto Mono" panose="00000009000000000000" pitchFamily="49" charset="0"/>
              </a:rPr>
              <a:t>a.patient_id</a:t>
            </a:r>
            <a:r>
              <a:rPr lang="en-US" sz="900" b="0" dirty="0">
                <a:solidFill>
                  <a:srgbClr val="202124"/>
                </a:solidFill>
                <a:effectLst/>
                <a:latin typeface="Roboto Mono" panose="00000009000000000000" pitchFamily="49" charset="0"/>
              </a:rPr>
              <a:t> = </a:t>
            </a:r>
            <a:r>
              <a:rPr lang="en-US" sz="900" b="0" dirty="0" err="1">
                <a:solidFill>
                  <a:srgbClr val="000000"/>
                </a:solidFill>
                <a:effectLst/>
                <a:latin typeface="Roboto Mono" panose="00000009000000000000" pitchFamily="49" charset="0"/>
              </a:rPr>
              <a:t>e.patient_id</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1967D2"/>
                </a:solidFill>
                <a:effectLst/>
                <a:latin typeface="Roboto Mono" panose="00000009000000000000" pitchFamily="49" charset="0"/>
              </a:rPr>
              <a:t>left</a:t>
            </a: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join</a:t>
            </a:r>
            <a:r>
              <a:rPr lang="en-US" sz="900" b="0" dirty="0">
                <a:solidFill>
                  <a:srgbClr val="202124"/>
                </a:solidFill>
                <a:effectLst/>
                <a:latin typeface="Roboto Mono" panose="00000009000000000000" pitchFamily="49" charset="0"/>
              </a:rPr>
              <a:t> </a:t>
            </a:r>
            <a:r>
              <a:rPr lang="en-US" sz="900" b="0" dirty="0">
                <a:solidFill>
                  <a:srgbClr val="188038"/>
                </a:solidFill>
                <a:effectLst/>
                <a:latin typeface="Roboto Mono" panose="00000009000000000000" pitchFamily="49" charset="0"/>
              </a:rPr>
              <a:t>`</a:t>
            </a:r>
            <a:r>
              <a:rPr lang="en-US" sz="900" b="0" dirty="0" err="1">
                <a:solidFill>
                  <a:srgbClr val="188038"/>
                </a:solidFill>
                <a:effectLst/>
                <a:latin typeface="Roboto Mono" panose="00000009000000000000" pitchFamily="49" charset="0"/>
              </a:rPr>
              <a:t>icon_health_demo.stg_providers</a:t>
            </a:r>
            <a:r>
              <a:rPr lang="en-US" sz="900" b="0" dirty="0">
                <a:solidFill>
                  <a:srgbClr val="188038"/>
                </a:solidFill>
                <a:effectLst/>
                <a:latin typeface="Roboto Mono" panose="00000009000000000000" pitchFamily="49" charset="0"/>
              </a:rPr>
              <a:t>`</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p</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on</a:t>
            </a:r>
            <a:r>
              <a:rPr lang="en-US" sz="900" b="0" dirty="0">
                <a:solidFill>
                  <a:srgbClr val="202124"/>
                </a:solidFill>
                <a:effectLst/>
                <a:latin typeface="Roboto Mono" panose="00000009000000000000" pitchFamily="49" charset="0"/>
              </a:rPr>
              <a:t> </a:t>
            </a:r>
            <a:r>
              <a:rPr lang="en-US" sz="900" b="0" dirty="0" err="1">
                <a:solidFill>
                  <a:srgbClr val="000000"/>
                </a:solidFill>
                <a:effectLst/>
                <a:latin typeface="Roboto Mono" panose="00000009000000000000" pitchFamily="49" charset="0"/>
              </a:rPr>
              <a:t>e.npi</a:t>
            </a:r>
            <a:r>
              <a:rPr lang="en-US" sz="900" b="0" dirty="0">
                <a:solidFill>
                  <a:srgbClr val="202124"/>
                </a:solidFill>
                <a:effectLst/>
                <a:latin typeface="Roboto Mono" panose="00000009000000000000" pitchFamily="49" charset="0"/>
              </a:rPr>
              <a:t> = </a:t>
            </a:r>
            <a:r>
              <a:rPr lang="en-US" sz="900" b="0" dirty="0" err="1">
                <a:solidFill>
                  <a:srgbClr val="000000"/>
                </a:solidFill>
                <a:effectLst/>
                <a:latin typeface="Roboto Mono" panose="00000009000000000000" pitchFamily="49" charset="0"/>
              </a:rPr>
              <a:t>p.npi</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1967D2"/>
                </a:solidFill>
                <a:effectLst/>
                <a:latin typeface="Roboto Mono" panose="00000009000000000000" pitchFamily="49" charset="0"/>
              </a:rPr>
              <a:t>Left</a:t>
            </a: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Join</a:t>
            </a:r>
            <a:r>
              <a:rPr lang="en-US" sz="900" b="0" dirty="0">
                <a:solidFill>
                  <a:srgbClr val="202124"/>
                </a:solidFill>
                <a:effectLst/>
                <a:latin typeface="Roboto Mono" panose="00000009000000000000" pitchFamily="49" charset="0"/>
              </a:rPr>
              <a:t> </a:t>
            </a:r>
            <a:r>
              <a:rPr lang="en-US" sz="900" b="0" dirty="0" err="1">
                <a:solidFill>
                  <a:srgbClr val="000000"/>
                </a:solidFill>
                <a:effectLst/>
                <a:latin typeface="Roboto Mono" panose="00000009000000000000" pitchFamily="49" charset="0"/>
              </a:rPr>
              <a:t>icon_health_demo.ref_zip</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z</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on</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z.zip</a:t>
            </a:r>
            <a:r>
              <a:rPr lang="en-US" sz="900" b="0" dirty="0">
                <a:solidFill>
                  <a:srgbClr val="202124"/>
                </a:solidFill>
                <a:effectLst/>
                <a:latin typeface="Roboto Mono" panose="00000009000000000000" pitchFamily="49" charset="0"/>
              </a:rPr>
              <a:t> = </a:t>
            </a:r>
            <a:r>
              <a:rPr lang="en-US" sz="900" b="0" dirty="0">
                <a:solidFill>
                  <a:srgbClr val="000000"/>
                </a:solidFill>
                <a:effectLst/>
                <a:latin typeface="Roboto Mono" panose="00000009000000000000" pitchFamily="49" charset="0"/>
              </a:rPr>
              <a:t>p.zip</a:t>
            </a:r>
            <a:endParaRPr lang="en-US" sz="900" b="0" dirty="0">
              <a:solidFill>
                <a:srgbClr val="202124"/>
              </a:solidFill>
              <a:effectLst/>
              <a:latin typeface="Roboto Mono" panose="00000009000000000000" pitchFamily="49" charset="0"/>
            </a:endParaRPr>
          </a:p>
          <a:p>
            <a:pPr>
              <a:spcAft>
                <a:spcPts val="600"/>
              </a:spcAft>
            </a:pPr>
            <a:br>
              <a:rPr lang="en-US" sz="900" b="0" dirty="0">
                <a:solidFill>
                  <a:srgbClr val="202124"/>
                </a:solidFill>
                <a:effectLst/>
                <a:latin typeface="Roboto Mono" panose="00000009000000000000" pitchFamily="49" charset="0"/>
              </a:rPr>
            </a:br>
            <a:r>
              <a:rPr lang="en-US" sz="900" b="0" dirty="0">
                <a:solidFill>
                  <a:srgbClr val="1967D2"/>
                </a:solidFill>
                <a:effectLst/>
                <a:latin typeface="Roboto Mono" panose="00000009000000000000" pitchFamily="49" charset="0"/>
              </a:rPr>
              <a:t>UNION</a:t>
            </a: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Distinct</a:t>
            </a:r>
            <a:endParaRPr lang="en-US" sz="900" b="0" dirty="0">
              <a:solidFill>
                <a:srgbClr val="202124"/>
              </a:solidFill>
              <a:effectLst/>
              <a:latin typeface="Roboto Mono" panose="00000009000000000000" pitchFamily="49" charset="0"/>
            </a:endParaRPr>
          </a:p>
          <a:p>
            <a:pPr>
              <a:spcAft>
                <a:spcPts val="600"/>
              </a:spcAft>
            </a:pPr>
            <a:br>
              <a:rPr lang="en-US" sz="900" b="0" dirty="0">
                <a:solidFill>
                  <a:srgbClr val="202124"/>
                </a:solidFill>
                <a:effectLst/>
                <a:latin typeface="Roboto Mono" panose="00000009000000000000" pitchFamily="49" charset="0"/>
              </a:rPr>
            </a:br>
            <a:r>
              <a:rPr lang="en-US" sz="900" b="0" dirty="0">
                <a:solidFill>
                  <a:srgbClr val="1967D2"/>
                </a:solidFill>
                <a:effectLst/>
                <a:latin typeface="Roboto Mono" panose="00000009000000000000" pitchFamily="49" charset="0"/>
              </a:rPr>
              <a:t>Select</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a:t>
            </a:r>
            <a:r>
              <a:rPr lang="en-US" sz="900" b="0" dirty="0" err="1">
                <a:solidFill>
                  <a:srgbClr val="000000"/>
                </a:solidFill>
                <a:effectLst/>
                <a:latin typeface="Roboto Mono" panose="00000009000000000000" pitchFamily="49" charset="0"/>
              </a:rPr>
              <a:t>patient_id</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a:solidFill>
                  <a:srgbClr val="000000"/>
                </a:solidFill>
                <a:effectLst/>
                <a:latin typeface="Roboto Mono" panose="00000009000000000000" pitchFamily="49" charset="0"/>
              </a:rPr>
              <a:t>gender</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err="1">
                <a:solidFill>
                  <a:srgbClr val="000000"/>
                </a:solidFill>
                <a:effectLst/>
                <a:latin typeface="Roboto Mono" panose="00000009000000000000" pitchFamily="49" charset="0"/>
              </a:rPr>
              <a:t>birth_date</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err="1">
                <a:solidFill>
                  <a:srgbClr val="1967D2"/>
                </a:solidFill>
                <a:effectLst/>
                <a:latin typeface="Roboto Mono" panose="00000009000000000000" pitchFamily="49" charset="0"/>
              </a:rPr>
              <a:t>date_diff</a:t>
            </a:r>
            <a:r>
              <a:rPr lang="en-US" sz="900" b="0" dirty="0">
                <a:solidFill>
                  <a:srgbClr val="3C4043"/>
                </a:solidFill>
                <a:effectLst/>
                <a:latin typeface="Roboto Mono" panose="00000009000000000000" pitchFamily="49" charset="0"/>
              </a:rPr>
              <a:t>(</a:t>
            </a:r>
            <a:r>
              <a:rPr lang="en-US" sz="900" b="0" dirty="0" err="1">
                <a:solidFill>
                  <a:srgbClr val="1967D2"/>
                </a:solidFill>
                <a:effectLst/>
                <a:latin typeface="Roboto Mono" panose="00000009000000000000" pitchFamily="49" charset="0"/>
              </a:rPr>
              <a:t>current_date</a:t>
            </a:r>
            <a:r>
              <a:rPr lang="en-US" sz="900" b="0" dirty="0">
                <a:solidFill>
                  <a:srgbClr val="3C4043"/>
                </a:solidFill>
                <a:effectLst/>
                <a:latin typeface="Roboto Mono" panose="00000009000000000000" pitchFamily="49" charset="0"/>
              </a:rPr>
              <a:t>()</a:t>
            </a:r>
            <a:r>
              <a:rPr lang="en-US" sz="900" b="0" dirty="0">
                <a:solidFill>
                  <a:srgbClr val="202124"/>
                </a:solidFill>
                <a:effectLst/>
                <a:latin typeface="Roboto Mono" panose="00000009000000000000" pitchFamily="49" charset="0"/>
              </a:rPr>
              <a:t>,</a:t>
            </a:r>
            <a:r>
              <a:rPr lang="en-US" sz="900" b="0" dirty="0" err="1">
                <a:solidFill>
                  <a:srgbClr val="000000"/>
                </a:solidFill>
                <a:effectLst/>
                <a:latin typeface="Roboto Mono" panose="00000009000000000000" pitchFamily="49" charset="0"/>
              </a:rPr>
              <a:t>birth_date</a:t>
            </a:r>
            <a:r>
              <a:rPr lang="en-US" sz="900" b="0" dirty="0" err="1">
                <a:solidFill>
                  <a:srgbClr val="202124"/>
                </a:solidFill>
                <a:effectLst/>
                <a:latin typeface="Roboto Mono" panose="00000009000000000000" pitchFamily="49" charset="0"/>
              </a:rPr>
              <a:t>,</a:t>
            </a:r>
            <a:r>
              <a:rPr lang="en-US" sz="900" b="0" dirty="0" err="1">
                <a:solidFill>
                  <a:srgbClr val="000000"/>
                </a:solidFill>
                <a:effectLst/>
                <a:latin typeface="Roboto Mono" panose="00000009000000000000" pitchFamily="49" charset="0"/>
              </a:rPr>
              <a:t>YEAR</a:t>
            </a:r>
            <a:r>
              <a:rPr lang="en-US" sz="900" b="0" dirty="0">
                <a:solidFill>
                  <a:srgbClr val="3C4043"/>
                </a:solidFill>
                <a:effectLst/>
                <a:latin typeface="Roboto Mono" panose="00000009000000000000" pitchFamily="49" charset="0"/>
              </a:rPr>
              <a:t>)</a:t>
            </a: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as</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age</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a:solidFill>
                  <a:srgbClr val="000000"/>
                </a:solidFill>
                <a:effectLst/>
                <a:latin typeface="Roboto Mono" panose="00000009000000000000" pitchFamily="49" charset="0"/>
              </a:rPr>
              <a:t>r.zip</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a:solidFill>
                  <a:srgbClr val="000000"/>
                </a:solidFill>
                <a:effectLst/>
                <a:latin typeface="Roboto Mono" panose="00000009000000000000" pitchFamily="49" charset="0"/>
              </a:rPr>
              <a:t>z.zip_1</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a:solidFill>
                  <a:srgbClr val="000000"/>
                </a:solidFill>
                <a:effectLst/>
                <a:latin typeface="Roboto Mono" panose="00000009000000000000" pitchFamily="49" charset="0"/>
              </a:rPr>
              <a:t>z.zip_2</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 </a:t>
            </a:r>
            <a:r>
              <a:rPr lang="en-US" sz="900" b="0" dirty="0" err="1">
                <a:solidFill>
                  <a:srgbClr val="000000"/>
                </a:solidFill>
                <a:effectLst/>
                <a:latin typeface="Roboto Mono" panose="00000009000000000000" pitchFamily="49" charset="0"/>
              </a:rPr>
              <a:t>z.city</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1967D2"/>
                </a:solidFill>
                <a:effectLst/>
                <a:latin typeface="Roboto Mono" panose="00000009000000000000" pitchFamily="49" charset="0"/>
              </a:rPr>
              <a:t>From</a:t>
            </a:r>
            <a:r>
              <a:rPr lang="en-US" sz="900" b="0" dirty="0">
                <a:solidFill>
                  <a:srgbClr val="202124"/>
                </a:solidFill>
                <a:effectLst/>
                <a:latin typeface="Roboto Mono" panose="00000009000000000000" pitchFamily="49" charset="0"/>
              </a:rPr>
              <a:t> </a:t>
            </a:r>
            <a:r>
              <a:rPr lang="en-US" sz="900" b="0" dirty="0" err="1">
                <a:solidFill>
                  <a:srgbClr val="000000"/>
                </a:solidFill>
                <a:effectLst/>
                <a:latin typeface="Roboto Mono" panose="00000009000000000000" pitchFamily="49" charset="0"/>
              </a:rPr>
              <a:t>icon_health_demo.stg_referrals</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r</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1967D2"/>
                </a:solidFill>
                <a:effectLst/>
                <a:latin typeface="Roboto Mono" panose="00000009000000000000" pitchFamily="49" charset="0"/>
              </a:rPr>
              <a:t>Left</a:t>
            </a: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Join</a:t>
            </a:r>
            <a:r>
              <a:rPr lang="en-US" sz="900" b="0" dirty="0">
                <a:solidFill>
                  <a:srgbClr val="202124"/>
                </a:solidFill>
                <a:effectLst/>
                <a:latin typeface="Roboto Mono" panose="00000009000000000000" pitchFamily="49" charset="0"/>
              </a:rPr>
              <a:t> </a:t>
            </a:r>
            <a:r>
              <a:rPr lang="en-US" sz="900" b="0" dirty="0" err="1">
                <a:solidFill>
                  <a:srgbClr val="000000"/>
                </a:solidFill>
                <a:effectLst/>
                <a:latin typeface="Roboto Mono" panose="00000009000000000000" pitchFamily="49" charset="0"/>
              </a:rPr>
              <a:t>icon_health_demo.ref_zip</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z</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  </a:t>
            </a:r>
            <a:r>
              <a:rPr lang="en-US" sz="900" b="0" dirty="0">
                <a:solidFill>
                  <a:srgbClr val="1967D2"/>
                </a:solidFill>
                <a:effectLst/>
                <a:latin typeface="Roboto Mono" panose="00000009000000000000" pitchFamily="49" charset="0"/>
              </a:rPr>
              <a:t>on</a:t>
            </a:r>
            <a:r>
              <a:rPr lang="en-US" sz="900" b="0" dirty="0">
                <a:solidFill>
                  <a:srgbClr val="202124"/>
                </a:solidFill>
                <a:effectLst/>
                <a:latin typeface="Roboto Mono" panose="00000009000000000000" pitchFamily="49" charset="0"/>
              </a:rPr>
              <a:t> </a:t>
            </a:r>
            <a:r>
              <a:rPr lang="en-US" sz="900" b="0" dirty="0">
                <a:solidFill>
                  <a:srgbClr val="000000"/>
                </a:solidFill>
                <a:effectLst/>
                <a:latin typeface="Roboto Mono" panose="00000009000000000000" pitchFamily="49" charset="0"/>
              </a:rPr>
              <a:t>z.zip</a:t>
            </a:r>
            <a:r>
              <a:rPr lang="en-US" sz="900" b="0" dirty="0">
                <a:solidFill>
                  <a:srgbClr val="202124"/>
                </a:solidFill>
                <a:effectLst/>
                <a:latin typeface="Roboto Mono" panose="00000009000000000000" pitchFamily="49" charset="0"/>
              </a:rPr>
              <a:t> = </a:t>
            </a:r>
            <a:r>
              <a:rPr lang="en-US" sz="900" b="0" dirty="0">
                <a:solidFill>
                  <a:srgbClr val="000000"/>
                </a:solidFill>
                <a:effectLst/>
                <a:latin typeface="Roboto Mono" panose="00000009000000000000" pitchFamily="49" charset="0"/>
              </a:rPr>
              <a:t>r.zip</a:t>
            </a:r>
            <a:endParaRPr lang="en-US" sz="900" b="0" dirty="0">
              <a:solidFill>
                <a:srgbClr val="202124"/>
              </a:solidFill>
              <a:effectLst/>
              <a:latin typeface="Roboto Mono" panose="00000009000000000000" pitchFamily="49" charset="0"/>
            </a:endParaRPr>
          </a:p>
          <a:p>
            <a:pPr>
              <a:spcAft>
                <a:spcPts val="600"/>
              </a:spcAft>
            </a:pPr>
            <a:r>
              <a:rPr lang="en-US" sz="900" b="0" dirty="0">
                <a:solidFill>
                  <a:srgbClr val="202124"/>
                </a:solidFill>
                <a:effectLst/>
                <a:latin typeface="Roboto Mono" panose="00000009000000000000" pitchFamily="49" charset="0"/>
              </a:rPr>
              <a:t>;</a:t>
            </a:r>
          </a:p>
        </p:txBody>
      </p:sp>
      <p:sp>
        <p:nvSpPr>
          <p:cNvPr id="6" name="Content Placeholder 3">
            <a:extLst>
              <a:ext uri="{FF2B5EF4-FFF2-40B4-BE49-F238E27FC236}">
                <a16:creationId xmlns:a16="http://schemas.microsoft.com/office/drawing/2014/main" id="{4B701AC0-2237-5AE7-B9AD-DA1A00BFBE19}"/>
              </a:ext>
            </a:extLst>
          </p:cNvPr>
          <p:cNvSpPr txBox="1">
            <a:spLocks/>
          </p:cNvSpPr>
          <p:nvPr/>
        </p:nvSpPr>
        <p:spPr>
          <a:xfrm>
            <a:off x="838199" y="1751132"/>
            <a:ext cx="5007429" cy="42795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b</a:t>
            </a:r>
            <a:r>
              <a:rPr lang="en-US" sz="1800" dirty="0">
                <a:solidFill>
                  <a:schemeClr val="tx1">
                    <a:lumMod val="65000"/>
                    <a:lumOff val="35000"/>
                  </a:schemeClr>
                </a:solidFill>
              </a:rPr>
              <a:t>) Design Notes:</a:t>
            </a:r>
          </a:p>
          <a:p>
            <a:r>
              <a:rPr lang="en-US" sz="1800" dirty="0"/>
              <a:t>Interpreted task as creating a Master Patient reference table that unifies data inputs, rather than a table for analysis.</a:t>
            </a:r>
          </a:p>
          <a:p>
            <a:r>
              <a:rPr lang="en-US" sz="1800" dirty="0"/>
              <a:t>Prompt provides assumptions to join additional details that capture missing data for the original patient table. </a:t>
            </a:r>
          </a:p>
          <a:p>
            <a:r>
              <a:rPr lang="en-US" sz="1800" dirty="0"/>
              <a:t>Add useful dimension fields like age (formula) and city (custom </a:t>
            </a:r>
            <a:r>
              <a:rPr lang="en-US" sz="1800" dirty="0" err="1"/>
              <a:t>ref_zip</a:t>
            </a:r>
            <a:r>
              <a:rPr lang="en-US" sz="1800" dirty="0"/>
              <a:t> table)</a:t>
            </a:r>
          </a:p>
          <a:p>
            <a:endParaRPr lang="en-US" sz="1800" dirty="0"/>
          </a:p>
          <a:p>
            <a:endParaRPr lang="en-US" sz="1800" dirty="0"/>
          </a:p>
        </p:txBody>
      </p:sp>
    </p:spTree>
    <p:extLst>
      <p:ext uri="{BB962C8B-B14F-4D97-AF65-F5344CB8AC3E}">
        <p14:creationId xmlns:p14="http://schemas.microsoft.com/office/powerpoint/2010/main" val="2012528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145A6-557F-82A6-CB34-1C2742E22B6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DA3391E-7C36-562A-64E2-DF56E589E30F}"/>
              </a:ext>
            </a:extLst>
          </p:cNvPr>
          <p:cNvSpPr/>
          <p:nvPr/>
        </p:nvSpPr>
        <p:spPr>
          <a:xfrm>
            <a:off x="3175756" y="1496962"/>
            <a:ext cx="6022674" cy="40494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 GCP – Data Warehouse </a:t>
            </a:r>
          </a:p>
          <a:p>
            <a:pPr lvl="1"/>
            <a:r>
              <a:rPr lang="en-US" b="1" dirty="0">
                <a:ln w="22225">
                  <a:solidFill>
                    <a:schemeClr val="accent2"/>
                  </a:solidFill>
                  <a:prstDash val="solid"/>
                </a:ln>
                <a:solidFill>
                  <a:schemeClr val="accent2">
                    <a:lumMod val="40000"/>
                    <a:lumOff val="60000"/>
                  </a:schemeClr>
                </a:solidFill>
              </a:rPr>
              <a:t>DBT workflow </a:t>
            </a:r>
            <a:r>
              <a:rPr lang="en-US" dirty="0">
                <a:solidFill>
                  <a:schemeClr val="tx1"/>
                </a:solidFill>
              </a:rPr>
              <a:t>– transformations</a:t>
            </a:r>
            <a:endParaRPr lang="en-US" dirty="0">
              <a:ln w="22225">
                <a:solidFill>
                  <a:schemeClr val="accent2"/>
                </a:solidFill>
                <a:prstDash val="solid"/>
              </a:ln>
              <a:solidFill>
                <a:schemeClr val="accent2">
                  <a:lumMod val="40000"/>
                  <a:lumOff val="60000"/>
                </a:schemeClr>
              </a:solidFill>
            </a:endParaRPr>
          </a:p>
          <a:p>
            <a:pPr lvl="1"/>
            <a:r>
              <a:rPr lang="en-US" b="1" dirty="0">
                <a:solidFill>
                  <a:schemeClr val="accent5"/>
                </a:solidFill>
              </a:rPr>
              <a:t>Orchestrator </a:t>
            </a:r>
            <a:r>
              <a:rPr lang="en-US" dirty="0">
                <a:solidFill>
                  <a:schemeClr val="tx1"/>
                </a:solidFill>
              </a:rPr>
              <a:t>– scheduling automation</a:t>
            </a:r>
          </a:p>
        </p:txBody>
      </p:sp>
      <p:sp>
        <p:nvSpPr>
          <p:cNvPr id="2" name="Title 1">
            <a:extLst>
              <a:ext uri="{FF2B5EF4-FFF2-40B4-BE49-F238E27FC236}">
                <a16:creationId xmlns:a16="http://schemas.microsoft.com/office/drawing/2014/main" id="{D9B6EA6E-5480-F84E-686A-841E7DF297D8}"/>
              </a:ext>
            </a:extLst>
          </p:cNvPr>
          <p:cNvSpPr>
            <a:spLocks noGrp="1"/>
          </p:cNvSpPr>
          <p:nvPr>
            <p:ph type="title"/>
          </p:nvPr>
        </p:nvSpPr>
        <p:spPr>
          <a:xfrm>
            <a:off x="157329" y="137609"/>
            <a:ext cx="11196471" cy="766989"/>
          </a:xfrm>
        </p:spPr>
        <p:txBody>
          <a:bodyPr>
            <a:normAutofit/>
          </a:bodyPr>
          <a:lstStyle/>
          <a:p>
            <a:r>
              <a:rPr lang="en-US" dirty="0">
                <a:ln w="0"/>
                <a:solidFill>
                  <a:schemeClr val="accent1"/>
                </a:solidFill>
                <a:effectLst>
                  <a:outerShdw blurRad="38100" dist="25400" dir="5400000" algn="ctr" rotWithShape="0">
                    <a:srgbClr val="6E747A">
                      <a:alpha val="43000"/>
                    </a:srgbClr>
                  </a:outerShdw>
                </a:effectLst>
              </a:rPr>
              <a:t>Prompt 3a</a:t>
            </a:r>
          </a:p>
        </p:txBody>
      </p:sp>
      <p:sp>
        <p:nvSpPr>
          <p:cNvPr id="4" name="Content Placeholder 3">
            <a:extLst>
              <a:ext uri="{FF2B5EF4-FFF2-40B4-BE49-F238E27FC236}">
                <a16:creationId xmlns:a16="http://schemas.microsoft.com/office/drawing/2014/main" id="{97F8AA4F-E98B-C417-68D3-A99EC8AEC391}"/>
              </a:ext>
            </a:extLst>
          </p:cNvPr>
          <p:cNvSpPr>
            <a:spLocks noGrp="1"/>
          </p:cNvSpPr>
          <p:nvPr>
            <p:ph idx="1"/>
          </p:nvPr>
        </p:nvSpPr>
        <p:spPr>
          <a:xfrm>
            <a:off x="310117" y="774287"/>
            <a:ext cx="11196471" cy="635989"/>
          </a:xfrm>
          <a:ln>
            <a:noFill/>
          </a:ln>
        </p:spPr>
        <p:txBody>
          <a:bodyPr>
            <a:normAutofit/>
          </a:bodyPr>
          <a:lstStyle/>
          <a:p>
            <a:pPr marL="0" indent="0">
              <a:buNone/>
            </a:pPr>
            <a:r>
              <a:rPr lang="en-US" sz="1800" dirty="0">
                <a:solidFill>
                  <a:schemeClr val="tx1">
                    <a:lumMod val="65000"/>
                    <a:lumOff val="35000"/>
                  </a:schemeClr>
                </a:solidFill>
              </a:rPr>
              <a:t>How would you advise Icon to construct a data pipeline for ingesting data (from receipt through construction of the types of artifacts you’ve provided above for the provider and patient aggregation tables)?</a:t>
            </a:r>
          </a:p>
        </p:txBody>
      </p:sp>
      <p:sp>
        <p:nvSpPr>
          <p:cNvPr id="5" name="Rectangle 4">
            <a:extLst>
              <a:ext uri="{FF2B5EF4-FFF2-40B4-BE49-F238E27FC236}">
                <a16:creationId xmlns:a16="http://schemas.microsoft.com/office/drawing/2014/main" id="{DDA85A93-A538-80C1-AA3F-54540818E817}"/>
              </a:ext>
            </a:extLst>
          </p:cNvPr>
          <p:cNvSpPr/>
          <p:nvPr/>
        </p:nvSpPr>
        <p:spPr>
          <a:xfrm>
            <a:off x="293914" y="1954164"/>
            <a:ext cx="1589314" cy="664029"/>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EMR - Canvas</a:t>
            </a:r>
          </a:p>
        </p:txBody>
      </p:sp>
      <p:sp>
        <p:nvSpPr>
          <p:cNvPr id="6" name="Rectangle 5">
            <a:extLst>
              <a:ext uri="{FF2B5EF4-FFF2-40B4-BE49-F238E27FC236}">
                <a16:creationId xmlns:a16="http://schemas.microsoft.com/office/drawing/2014/main" id="{4886B21D-3D5F-3F0E-9787-89C53E12240B}"/>
              </a:ext>
            </a:extLst>
          </p:cNvPr>
          <p:cNvSpPr/>
          <p:nvPr/>
        </p:nvSpPr>
        <p:spPr>
          <a:xfrm>
            <a:off x="293914" y="2835906"/>
            <a:ext cx="1589314" cy="664029"/>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Product - Telescope</a:t>
            </a:r>
          </a:p>
        </p:txBody>
      </p:sp>
      <p:sp>
        <p:nvSpPr>
          <p:cNvPr id="7" name="Rectangle 6">
            <a:extLst>
              <a:ext uri="{FF2B5EF4-FFF2-40B4-BE49-F238E27FC236}">
                <a16:creationId xmlns:a16="http://schemas.microsoft.com/office/drawing/2014/main" id="{BD60CEDC-7AD5-4D11-D863-1B5C29E34C00}"/>
              </a:ext>
            </a:extLst>
          </p:cNvPr>
          <p:cNvSpPr/>
          <p:nvPr/>
        </p:nvSpPr>
        <p:spPr>
          <a:xfrm>
            <a:off x="293914" y="3717648"/>
            <a:ext cx="1589314" cy="664029"/>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Claims</a:t>
            </a:r>
          </a:p>
        </p:txBody>
      </p:sp>
      <p:sp>
        <p:nvSpPr>
          <p:cNvPr id="8" name="Rectangle 7">
            <a:extLst>
              <a:ext uri="{FF2B5EF4-FFF2-40B4-BE49-F238E27FC236}">
                <a16:creationId xmlns:a16="http://schemas.microsoft.com/office/drawing/2014/main" id="{97C1B4A5-97E2-3DB7-443D-1CE69FDBDF97}"/>
              </a:ext>
            </a:extLst>
          </p:cNvPr>
          <p:cNvSpPr/>
          <p:nvPr/>
        </p:nvSpPr>
        <p:spPr>
          <a:xfrm>
            <a:off x="293914" y="4599390"/>
            <a:ext cx="1589314" cy="664029"/>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Etc.</a:t>
            </a:r>
          </a:p>
        </p:txBody>
      </p:sp>
      <p:sp>
        <p:nvSpPr>
          <p:cNvPr id="9" name="TextBox 8">
            <a:extLst>
              <a:ext uri="{FF2B5EF4-FFF2-40B4-BE49-F238E27FC236}">
                <a16:creationId xmlns:a16="http://schemas.microsoft.com/office/drawing/2014/main" id="{D0866C4C-DB7E-752B-14FE-D7BC0640A962}"/>
              </a:ext>
            </a:extLst>
          </p:cNvPr>
          <p:cNvSpPr txBox="1"/>
          <p:nvPr/>
        </p:nvSpPr>
        <p:spPr>
          <a:xfrm>
            <a:off x="310117" y="1475976"/>
            <a:ext cx="1588576" cy="369332"/>
          </a:xfrm>
          <a:prstGeom prst="rect">
            <a:avLst/>
          </a:prstGeom>
          <a:noFill/>
        </p:spPr>
        <p:txBody>
          <a:bodyPr wrap="none" rtlCol="0">
            <a:spAutoFit/>
          </a:bodyPr>
          <a:lstStyle/>
          <a:p>
            <a:r>
              <a:rPr lang="en-US" b="1" dirty="0"/>
              <a:t>Data Sources</a:t>
            </a:r>
          </a:p>
        </p:txBody>
      </p:sp>
      <p:sp>
        <p:nvSpPr>
          <p:cNvPr id="14" name="Rectangle 13">
            <a:extLst>
              <a:ext uri="{FF2B5EF4-FFF2-40B4-BE49-F238E27FC236}">
                <a16:creationId xmlns:a16="http://schemas.microsoft.com/office/drawing/2014/main" id="{0311C9B0-7667-2C3D-63C3-C97D2BEC2A0C}"/>
              </a:ext>
            </a:extLst>
          </p:cNvPr>
          <p:cNvSpPr/>
          <p:nvPr/>
        </p:nvSpPr>
        <p:spPr>
          <a:xfrm>
            <a:off x="3367354" y="2498094"/>
            <a:ext cx="1107737" cy="278785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Layer 1</a:t>
            </a:r>
            <a:endParaRPr lang="en-US" dirty="0"/>
          </a:p>
          <a:p>
            <a:r>
              <a:rPr lang="en-US" sz="1200" dirty="0"/>
              <a:t>SOURCE / STAGE</a:t>
            </a:r>
          </a:p>
        </p:txBody>
      </p:sp>
      <p:sp>
        <p:nvSpPr>
          <p:cNvPr id="15" name="Rectangle 14">
            <a:extLst>
              <a:ext uri="{FF2B5EF4-FFF2-40B4-BE49-F238E27FC236}">
                <a16:creationId xmlns:a16="http://schemas.microsoft.com/office/drawing/2014/main" id="{FBF68A48-B013-A59A-CD60-485C6A0D2233}"/>
              </a:ext>
            </a:extLst>
          </p:cNvPr>
          <p:cNvSpPr/>
          <p:nvPr/>
        </p:nvSpPr>
        <p:spPr>
          <a:xfrm>
            <a:off x="4969520" y="2487387"/>
            <a:ext cx="1915998" cy="278785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Layer 2</a:t>
            </a:r>
            <a:endParaRPr lang="en-US" dirty="0"/>
          </a:p>
          <a:p>
            <a:r>
              <a:rPr lang="en-US" sz="1200" dirty="0"/>
              <a:t>FOUNDATIONAL CONCEPTS</a:t>
            </a:r>
          </a:p>
          <a:p>
            <a:endParaRPr lang="en-US" sz="1200" dirty="0"/>
          </a:p>
          <a:p>
            <a:r>
              <a:rPr lang="en-US" sz="1200" dirty="0" err="1"/>
              <a:t>v_patient_all</a:t>
            </a:r>
            <a:endParaRPr lang="en-US" sz="1200" dirty="0"/>
          </a:p>
        </p:txBody>
      </p:sp>
      <p:sp>
        <p:nvSpPr>
          <p:cNvPr id="16" name="Rectangle 15">
            <a:extLst>
              <a:ext uri="{FF2B5EF4-FFF2-40B4-BE49-F238E27FC236}">
                <a16:creationId xmlns:a16="http://schemas.microsoft.com/office/drawing/2014/main" id="{833625BA-6D36-1660-4CD0-19385289D3F2}"/>
              </a:ext>
            </a:extLst>
          </p:cNvPr>
          <p:cNvSpPr/>
          <p:nvPr/>
        </p:nvSpPr>
        <p:spPr>
          <a:xfrm>
            <a:off x="7401158" y="3500505"/>
            <a:ext cx="1641639" cy="1779814"/>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Layer 3</a:t>
            </a:r>
            <a:br>
              <a:rPr lang="en-US" dirty="0"/>
            </a:br>
            <a:r>
              <a:rPr lang="en-US" sz="1200" dirty="0"/>
              <a:t>INSIGHTS</a:t>
            </a:r>
          </a:p>
          <a:p>
            <a:br>
              <a:rPr lang="en-US" sz="1200" dirty="0"/>
            </a:br>
            <a:r>
              <a:rPr lang="en-US" sz="1200" dirty="0" err="1"/>
              <a:t>v_patient_referrals</a:t>
            </a:r>
            <a:endParaRPr lang="en-US" sz="1200" dirty="0"/>
          </a:p>
          <a:p>
            <a:r>
              <a:rPr lang="en-US" sz="1200" dirty="0" err="1"/>
              <a:t>v_provider_metrics</a:t>
            </a:r>
            <a:r>
              <a:rPr lang="en-US" dirty="0"/>
              <a:t> </a:t>
            </a:r>
          </a:p>
        </p:txBody>
      </p:sp>
      <p:sp>
        <p:nvSpPr>
          <p:cNvPr id="17" name="Rectangle 16">
            <a:extLst>
              <a:ext uri="{FF2B5EF4-FFF2-40B4-BE49-F238E27FC236}">
                <a16:creationId xmlns:a16="http://schemas.microsoft.com/office/drawing/2014/main" id="{98397486-E4AC-33AE-F9C3-6D0F0F8AB648}"/>
              </a:ext>
            </a:extLst>
          </p:cNvPr>
          <p:cNvSpPr/>
          <p:nvPr/>
        </p:nvSpPr>
        <p:spPr>
          <a:xfrm>
            <a:off x="10042978" y="3222919"/>
            <a:ext cx="1725508" cy="892628"/>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Looker Dashboards</a:t>
            </a:r>
          </a:p>
        </p:txBody>
      </p:sp>
      <p:sp>
        <p:nvSpPr>
          <p:cNvPr id="18" name="Rectangle 17">
            <a:extLst>
              <a:ext uri="{FF2B5EF4-FFF2-40B4-BE49-F238E27FC236}">
                <a16:creationId xmlns:a16="http://schemas.microsoft.com/office/drawing/2014/main" id="{D25AADFB-E044-3BE9-70CE-C785A6DD0C43}"/>
              </a:ext>
            </a:extLst>
          </p:cNvPr>
          <p:cNvSpPr/>
          <p:nvPr/>
        </p:nvSpPr>
        <p:spPr>
          <a:xfrm>
            <a:off x="10021952" y="4491674"/>
            <a:ext cx="1725508" cy="892628"/>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Outputs – FHIR, APIs, other reports</a:t>
            </a:r>
          </a:p>
        </p:txBody>
      </p:sp>
      <p:sp>
        <p:nvSpPr>
          <p:cNvPr id="19" name="Rectangle 18">
            <a:extLst>
              <a:ext uri="{FF2B5EF4-FFF2-40B4-BE49-F238E27FC236}">
                <a16:creationId xmlns:a16="http://schemas.microsoft.com/office/drawing/2014/main" id="{87A46E6B-7BF9-D870-A70D-2FC8CB34FCA6}"/>
              </a:ext>
            </a:extLst>
          </p:cNvPr>
          <p:cNvSpPr/>
          <p:nvPr/>
        </p:nvSpPr>
        <p:spPr>
          <a:xfrm>
            <a:off x="10045812" y="1954164"/>
            <a:ext cx="1725508" cy="892628"/>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Ad Hoc Analysis</a:t>
            </a:r>
          </a:p>
        </p:txBody>
      </p:sp>
      <p:sp>
        <p:nvSpPr>
          <p:cNvPr id="21" name="TextBox 20">
            <a:extLst>
              <a:ext uri="{FF2B5EF4-FFF2-40B4-BE49-F238E27FC236}">
                <a16:creationId xmlns:a16="http://schemas.microsoft.com/office/drawing/2014/main" id="{54334001-036E-30F5-5B87-8840EC53E350}"/>
              </a:ext>
            </a:extLst>
          </p:cNvPr>
          <p:cNvSpPr txBox="1"/>
          <p:nvPr/>
        </p:nvSpPr>
        <p:spPr>
          <a:xfrm>
            <a:off x="4162191" y="5804740"/>
            <a:ext cx="3464094" cy="830997"/>
          </a:xfrm>
          <a:prstGeom prst="rect">
            <a:avLst/>
          </a:prstGeom>
          <a:noFill/>
          <a:ln>
            <a:solidFill>
              <a:schemeClr val="tx2"/>
            </a:solidFill>
          </a:ln>
        </p:spPr>
        <p:txBody>
          <a:bodyPr wrap="square">
            <a:spAutoFit/>
          </a:bodyPr>
          <a:lstStyle/>
          <a:p>
            <a:r>
              <a:rPr lang="en-US" sz="1200" dirty="0"/>
              <a:t>Clean version of concepts used across analyses. Type 2, Error handling E.g. Clean claims, encounters, reference tables, and centralized Provider / Patient rosters.</a:t>
            </a:r>
          </a:p>
        </p:txBody>
      </p:sp>
      <p:sp>
        <p:nvSpPr>
          <p:cNvPr id="22" name="TextBox 21">
            <a:extLst>
              <a:ext uri="{FF2B5EF4-FFF2-40B4-BE49-F238E27FC236}">
                <a16:creationId xmlns:a16="http://schemas.microsoft.com/office/drawing/2014/main" id="{21B7CF4F-7CFF-5EF9-834F-10569B6FEB76}"/>
              </a:ext>
            </a:extLst>
          </p:cNvPr>
          <p:cNvSpPr txBox="1"/>
          <p:nvPr/>
        </p:nvSpPr>
        <p:spPr>
          <a:xfrm>
            <a:off x="1970427" y="1486953"/>
            <a:ext cx="1156150" cy="369332"/>
          </a:xfrm>
          <a:prstGeom prst="rect">
            <a:avLst/>
          </a:prstGeom>
          <a:noFill/>
        </p:spPr>
        <p:txBody>
          <a:bodyPr wrap="none" rtlCol="0">
            <a:spAutoFit/>
          </a:bodyPr>
          <a:lstStyle/>
          <a:p>
            <a:r>
              <a:rPr lang="en-US" b="1" dirty="0"/>
              <a:t>Ingestion</a:t>
            </a:r>
          </a:p>
        </p:txBody>
      </p:sp>
      <p:sp>
        <p:nvSpPr>
          <p:cNvPr id="23" name="Arrow: Right 22">
            <a:extLst>
              <a:ext uri="{FF2B5EF4-FFF2-40B4-BE49-F238E27FC236}">
                <a16:creationId xmlns:a16="http://schemas.microsoft.com/office/drawing/2014/main" id="{2460A097-EF21-C487-A090-67C0791B1D74}"/>
              </a:ext>
            </a:extLst>
          </p:cNvPr>
          <p:cNvSpPr/>
          <p:nvPr/>
        </p:nvSpPr>
        <p:spPr>
          <a:xfrm>
            <a:off x="2258015" y="3446656"/>
            <a:ext cx="628369" cy="369333"/>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0D58D22-B544-E8C2-F5A8-2EDADB9AC172}"/>
              </a:ext>
            </a:extLst>
          </p:cNvPr>
          <p:cNvSpPr txBox="1"/>
          <p:nvPr/>
        </p:nvSpPr>
        <p:spPr>
          <a:xfrm>
            <a:off x="2035489" y="3826432"/>
            <a:ext cx="947689" cy="1200329"/>
          </a:xfrm>
          <a:prstGeom prst="rect">
            <a:avLst/>
          </a:prstGeom>
          <a:noFill/>
        </p:spPr>
        <p:txBody>
          <a:bodyPr wrap="square" rtlCol="0">
            <a:spAutoFit/>
          </a:bodyPr>
          <a:lstStyle/>
          <a:p>
            <a:pPr algn="ctr"/>
            <a:r>
              <a:rPr lang="en-US" sz="1200" dirty="0"/>
              <a:t>Python Stitch </a:t>
            </a:r>
          </a:p>
          <a:p>
            <a:pPr algn="ctr"/>
            <a:r>
              <a:rPr lang="en-US" sz="1200" dirty="0"/>
              <a:t>Flat Files S3</a:t>
            </a:r>
          </a:p>
          <a:p>
            <a:pPr algn="ctr"/>
            <a:r>
              <a:rPr lang="en-US" sz="1200" dirty="0"/>
              <a:t>JSON</a:t>
            </a:r>
          </a:p>
          <a:p>
            <a:pPr algn="ctr"/>
            <a:r>
              <a:rPr lang="en-US" sz="1200" dirty="0"/>
              <a:t>etc.</a:t>
            </a:r>
          </a:p>
        </p:txBody>
      </p:sp>
      <p:sp>
        <p:nvSpPr>
          <p:cNvPr id="25" name="TextBox 24">
            <a:extLst>
              <a:ext uri="{FF2B5EF4-FFF2-40B4-BE49-F238E27FC236}">
                <a16:creationId xmlns:a16="http://schemas.microsoft.com/office/drawing/2014/main" id="{3C1E4F52-B4F0-FD60-3A68-2FFD57C4B566}"/>
              </a:ext>
            </a:extLst>
          </p:cNvPr>
          <p:cNvSpPr txBox="1"/>
          <p:nvPr/>
        </p:nvSpPr>
        <p:spPr>
          <a:xfrm>
            <a:off x="670424" y="5928190"/>
            <a:ext cx="2927125" cy="646331"/>
          </a:xfrm>
          <a:prstGeom prst="rect">
            <a:avLst/>
          </a:prstGeom>
          <a:noFill/>
          <a:ln>
            <a:solidFill>
              <a:schemeClr val="tx2"/>
            </a:solidFill>
          </a:ln>
        </p:spPr>
        <p:txBody>
          <a:bodyPr wrap="square">
            <a:spAutoFit/>
          </a:bodyPr>
          <a:lstStyle/>
          <a:p>
            <a:r>
              <a:rPr lang="en-US" sz="1200" dirty="0"/>
              <a:t>Staging source datasets with all values – limited type and content transformation. Type 1 – Backup + Replace files available.</a:t>
            </a:r>
          </a:p>
        </p:txBody>
      </p:sp>
      <p:sp>
        <p:nvSpPr>
          <p:cNvPr id="26" name="TextBox 25">
            <a:extLst>
              <a:ext uri="{FF2B5EF4-FFF2-40B4-BE49-F238E27FC236}">
                <a16:creationId xmlns:a16="http://schemas.microsoft.com/office/drawing/2014/main" id="{1448A1CF-0C68-F317-6DCF-7C1F09805D56}"/>
              </a:ext>
            </a:extLst>
          </p:cNvPr>
          <p:cNvSpPr txBox="1"/>
          <p:nvPr/>
        </p:nvSpPr>
        <p:spPr>
          <a:xfrm>
            <a:off x="8190928" y="5762315"/>
            <a:ext cx="2914424" cy="830997"/>
          </a:xfrm>
          <a:prstGeom prst="rect">
            <a:avLst/>
          </a:prstGeom>
          <a:noFill/>
          <a:ln>
            <a:solidFill>
              <a:schemeClr val="tx2"/>
            </a:solidFill>
          </a:ln>
        </p:spPr>
        <p:txBody>
          <a:bodyPr wrap="square">
            <a:spAutoFit/>
          </a:bodyPr>
          <a:lstStyle/>
          <a:p>
            <a:r>
              <a:rPr lang="en-US" sz="1200" dirty="0"/>
              <a:t>Analysis-focused Data marts driven by business content areas for reporting, ad hoc analysis, and exporting. Relies on clean foundational data</a:t>
            </a:r>
          </a:p>
        </p:txBody>
      </p:sp>
      <p:cxnSp>
        <p:nvCxnSpPr>
          <p:cNvPr id="28" name="Straight Arrow Connector 27">
            <a:extLst>
              <a:ext uri="{FF2B5EF4-FFF2-40B4-BE49-F238E27FC236}">
                <a16:creationId xmlns:a16="http://schemas.microsoft.com/office/drawing/2014/main" id="{54E15E9C-00A9-5AB4-DDE3-980697A864B1}"/>
              </a:ext>
            </a:extLst>
          </p:cNvPr>
          <p:cNvCxnSpPr>
            <a:cxnSpLocks/>
            <a:stCxn id="14" idx="2"/>
            <a:endCxn id="25" idx="0"/>
          </p:cNvCxnSpPr>
          <p:nvPr/>
        </p:nvCxnSpPr>
        <p:spPr>
          <a:xfrm flipH="1">
            <a:off x="2133987" y="5285952"/>
            <a:ext cx="1787236" cy="642238"/>
          </a:xfrm>
          <a:prstGeom prst="straightConnector1">
            <a:avLst/>
          </a:prstGeom>
          <a:ln w="19050" cap="flat" cmpd="sng" algn="ctr">
            <a:solidFill>
              <a:schemeClr val="tx1">
                <a:lumMod val="50000"/>
                <a:lumOff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Arrow Connector 28">
            <a:extLst>
              <a:ext uri="{FF2B5EF4-FFF2-40B4-BE49-F238E27FC236}">
                <a16:creationId xmlns:a16="http://schemas.microsoft.com/office/drawing/2014/main" id="{8C9DF810-E584-8355-5D07-55B364439176}"/>
              </a:ext>
            </a:extLst>
          </p:cNvPr>
          <p:cNvCxnSpPr>
            <a:cxnSpLocks/>
            <a:stCxn id="15" idx="2"/>
            <a:endCxn id="21" idx="0"/>
          </p:cNvCxnSpPr>
          <p:nvPr/>
        </p:nvCxnSpPr>
        <p:spPr>
          <a:xfrm flipH="1">
            <a:off x="5894238" y="5275245"/>
            <a:ext cx="33281" cy="529495"/>
          </a:xfrm>
          <a:prstGeom prst="straightConnector1">
            <a:avLst/>
          </a:prstGeom>
          <a:ln w="19050" cap="flat" cmpd="sng" algn="ctr">
            <a:solidFill>
              <a:schemeClr val="tx1">
                <a:lumMod val="50000"/>
                <a:lumOff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Straight Arrow Connector 31">
            <a:extLst>
              <a:ext uri="{FF2B5EF4-FFF2-40B4-BE49-F238E27FC236}">
                <a16:creationId xmlns:a16="http://schemas.microsoft.com/office/drawing/2014/main" id="{DEE83268-FE6F-4939-6186-DE65F66EE140}"/>
              </a:ext>
            </a:extLst>
          </p:cNvPr>
          <p:cNvCxnSpPr>
            <a:cxnSpLocks/>
            <a:stCxn id="16" idx="2"/>
            <a:endCxn id="26" idx="0"/>
          </p:cNvCxnSpPr>
          <p:nvPr/>
        </p:nvCxnSpPr>
        <p:spPr>
          <a:xfrm>
            <a:off x="8221978" y="5280319"/>
            <a:ext cx="1426162" cy="481996"/>
          </a:xfrm>
          <a:prstGeom prst="straightConnector1">
            <a:avLst/>
          </a:prstGeom>
          <a:ln w="19050" cap="flat" cmpd="sng" algn="ctr">
            <a:solidFill>
              <a:schemeClr val="tx1">
                <a:lumMod val="50000"/>
                <a:lumOff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Rectangle 40">
            <a:extLst>
              <a:ext uri="{FF2B5EF4-FFF2-40B4-BE49-F238E27FC236}">
                <a16:creationId xmlns:a16="http://schemas.microsoft.com/office/drawing/2014/main" id="{BDF27981-0A59-3563-1537-A0AC6CC0DF50}"/>
              </a:ext>
            </a:extLst>
          </p:cNvPr>
          <p:cNvSpPr/>
          <p:nvPr/>
        </p:nvSpPr>
        <p:spPr>
          <a:xfrm>
            <a:off x="7379947" y="2487386"/>
            <a:ext cx="1641639" cy="91351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WORKSPACE</a:t>
            </a:r>
            <a:br>
              <a:rPr lang="en-US" dirty="0"/>
            </a:br>
            <a:r>
              <a:rPr lang="en-US" dirty="0"/>
              <a:t>R &amp; D / Ad Hoc Work </a:t>
            </a:r>
          </a:p>
        </p:txBody>
      </p:sp>
      <p:sp>
        <p:nvSpPr>
          <p:cNvPr id="62" name="Arrow: Right 61">
            <a:extLst>
              <a:ext uri="{FF2B5EF4-FFF2-40B4-BE49-F238E27FC236}">
                <a16:creationId xmlns:a16="http://schemas.microsoft.com/office/drawing/2014/main" id="{3A6CD19D-B55B-C99C-7BE9-299E267F10EF}"/>
              </a:ext>
            </a:extLst>
          </p:cNvPr>
          <p:cNvSpPr/>
          <p:nvPr/>
        </p:nvSpPr>
        <p:spPr>
          <a:xfrm>
            <a:off x="4639020" y="3465494"/>
            <a:ext cx="147583" cy="233689"/>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63" name="Arrow: Right 62">
            <a:extLst>
              <a:ext uri="{FF2B5EF4-FFF2-40B4-BE49-F238E27FC236}">
                <a16:creationId xmlns:a16="http://schemas.microsoft.com/office/drawing/2014/main" id="{9B7CAE94-A572-F05F-6BD2-F293191946E8}"/>
              </a:ext>
            </a:extLst>
          </p:cNvPr>
          <p:cNvSpPr/>
          <p:nvPr/>
        </p:nvSpPr>
        <p:spPr>
          <a:xfrm>
            <a:off x="7036581" y="3468992"/>
            <a:ext cx="147583" cy="233689"/>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72" name="TextBox 71">
            <a:extLst>
              <a:ext uri="{FF2B5EF4-FFF2-40B4-BE49-F238E27FC236}">
                <a16:creationId xmlns:a16="http://schemas.microsoft.com/office/drawing/2014/main" id="{5AF70295-2703-F655-1184-1865F54D0C26}"/>
              </a:ext>
            </a:extLst>
          </p:cNvPr>
          <p:cNvSpPr txBox="1"/>
          <p:nvPr/>
        </p:nvSpPr>
        <p:spPr>
          <a:xfrm>
            <a:off x="10380780" y="1473698"/>
            <a:ext cx="1049903" cy="369332"/>
          </a:xfrm>
          <a:prstGeom prst="rect">
            <a:avLst/>
          </a:prstGeom>
          <a:noFill/>
        </p:spPr>
        <p:txBody>
          <a:bodyPr wrap="none" rtlCol="0">
            <a:spAutoFit/>
          </a:bodyPr>
          <a:lstStyle/>
          <a:p>
            <a:r>
              <a:rPr lang="en-US" b="1" dirty="0"/>
              <a:t>Delivery</a:t>
            </a:r>
          </a:p>
        </p:txBody>
      </p:sp>
      <p:pic>
        <p:nvPicPr>
          <p:cNvPr id="84" name="Graphic 83" descr="Clock with solid fill">
            <a:extLst>
              <a:ext uri="{FF2B5EF4-FFF2-40B4-BE49-F238E27FC236}">
                <a16:creationId xmlns:a16="http://schemas.microsoft.com/office/drawing/2014/main" id="{9644B690-A7AD-42E8-8EF1-A6EA4DD8B9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47529" y="3709050"/>
            <a:ext cx="549553" cy="549553"/>
          </a:xfrm>
          <a:prstGeom prst="rect">
            <a:avLst/>
          </a:prstGeom>
        </p:spPr>
      </p:pic>
      <p:pic>
        <p:nvPicPr>
          <p:cNvPr id="85" name="Graphic 84" descr="Clock with solid fill">
            <a:extLst>
              <a:ext uri="{FF2B5EF4-FFF2-40B4-BE49-F238E27FC236}">
                <a16:creationId xmlns:a16="http://schemas.microsoft.com/office/drawing/2014/main" id="{C428DCD0-7491-8302-9F45-B7BC761C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83855" y="3717648"/>
            <a:ext cx="549553" cy="549553"/>
          </a:xfrm>
          <a:prstGeom prst="rect">
            <a:avLst/>
          </a:prstGeom>
        </p:spPr>
      </p:pic>
      <p:pic>
        <p:nvPicPr>
          <p:cNvPr id="86" name="Graphic 85" descr="Clock with solid fill">
            <a:extLst>
              <a:ext uri="{FF2B5EF4-FFF2-40B4-BE49-F238E27FC236}">
                <a16:creationId xmlns:a16="http://schemas.microsoft.com/office/drawing/2014/main" id="{75CFE73C-4255-1B93-6541-026604049F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28742" y="2894182"/>
            <a:ext cx="549553" cy="549553"/>
          </a:xfrm>
          <a:prstGeom prst="rect">
            <a:avLst/>
          </a:prstGeom>
        </p:spPr>
      </p:pic>
      <p:sp>
        <p:nvSpPr>
          <p:cNvPr id="90" name="Arrow: Right 89">
            <a:extLst>
              <a:ext uri="{FF2B5EF4-FFF2-40B4-BE49-F238E27FC236}">
                <a16:creationId xmlns:a16="http://schemas.microsoft.com/office/drawing/2014/main" id="{0BD664D6-D41B-EE9B-F06E-92B5F1A9EA00}"/>
              </a:ext>
            </a:extLst>
          </p:cNvPr>
          <p:cNvSpPr/>
          <p:nvPr/>
        </p:nvSpPr>
        <p:spPr>
          <a:xfrm>
            <a:off x="9306519" y="3446656"/>
            <a:ext cx="628369" cy="369333"/>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51E2A8D3-135D-6980-ACA9-45AFF7A29127}"/>
              </a:ext>
            </a:extLst>
          </p:cNvPr>
          <p:cNvSpPr txBox="1"/>
          <p:nvPr/>
        </p:nvSpPr>
        <p:spPr>
          <a:xfrm>
            <a:off x="9146858" y="3848167"/>
            <a:ext cx="947689" cy="461665"/>
          </a:xfrm>
          <a:prstGeom prst="rect">
            <a:avLst/>
          </a:prstGeom>
          <a:noFill/>
        </p:spPr>
        <p:txBody>
          <a:bodyPr wrap="square" rtlCol="0">
            <a:spAutoFit/>
          </a:bodyPr>
          <a:lstStyle/>
          <a:p>
            <a:pPr algn="ctr"/>
            <a:r>
              <a:rPr lang="en-US" sz="1200" dirty="0"/>
              <a:t>Queries </a:t>
            </a:r>
          </a:p>
          <a:p>
            <a:pPr algn="ctr"/>
            <a:r>
              <a:rPr lang="en-US" sz="1200" dirty="0"/>
              <a:t>BI Tool</a:t>
            </a:r>
          </a:p>
        </p:txBody>
      </p:sp>
    </p:spTree>
    <p:extLst>
      <p:ext uri="{BB962C8B-B14F-4D97-AF65-F5344CB8AC3E}">
        <p14:creationId xmlns:p14="http://schemas.microsoft.com/office/powerpoint/2010/main" val="869275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DA120-53EB-A425-E7A2-CF0704421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91E7C-B946-55E1-B038-FF3C232E195B}"/>
              </a:ext>
            </a:extLst>
          </p:cNvPr>
          <p:cNvSpPr>
            <a:spLocks noGrp="1"/>
          </p:cNvSpPr>
          <p:nvPr>
            <p:ph type="title"/>
          </p:nvPr>
        </p:nvSpPr>
        <p:spPr>
          <a:xfrm>
            <a:off x="838200" y="365125"/>
            <a:ext cx="10515600" cy="766989"/>
          </a:xfrm>
        </p:spPr>
        <p:txBody>
          <a:bodyPr>
            <a:normAutofit/>
          </a:bodyPr>
          <a:lstStyle/>
          <a:p>
            <a:r>
              <a:rPr lang="en-US" dirty="0">
                <a:ln w="0"/>
                <a:solidFill>
                  <a:schemeClr val="accent1"/>
                </a:solidFill>
                <a:effectLst>
                  <a:outerShdw blurRad="38100" dist="25400" dir="5400000" algn="ctr" rotWithShape="0">
                    <a:srgbClr val="6E747A">
                      <a:alpha val="43000"/>
                    </a:srgbClr>
                  </a:outerShdw>
                </a:effectLst>
              </a:rPr>
              <a:t>Prompt 3b</a:t>
            </a:r>
          </a:p>
        </p:txBody>
      </p:sp>
      <p:sp>
        <p:nvSpPr>
          <p:cNvPr id="4" name="Content Placeholder 3">
            <a:extLst>
              <a:ext uri="{FF2B5EF4-FFF2-40B4-BE49-F238E27FC236}">
                <a16:creationId xmlns:a16="http://schemas.microsoft.com/office/drawing/2014/main" id="{81C0CC61-572A-DDCA-89A8-2447E40F9DD1}"/>
              </a:ext>
            </a:extLst>
          </p:cNvPr>
          <p:cNvSpPr>
            <a:spLocks noGrp="1"/>
          </p:cNvSpPr>
          <p:nvPr>
            <p:ph idx="1"/>
          </p:nvPr>
        </p:nvSpPr>
        <p:spPr>
          <a:xfrm>
            <a:off x="838200" y="1132114"/>
            <a:ext cx="10515600" cy="5360761"/>
          </a:xfrm>
        </p:spPr>
        <p:txBody>
          <a:bodyPr>
            <a:normAutofit fontScale="85000" lnSpcReduction="10000"/>
          </a:bodyPr>
          <a:lstStyle/>
          <a:p>
            <a:pPr marL="0" indent="0">
              <a:buNone/>
            </a:pPr>
            <a:r>
              <a:rPr lang="en-US" sz="1800" dirty="0">
                <a:solidFill>
                  <a:schemeClr val="tx1">
                    <a:lumMod val="65000"/>
                    <a:lumOff val="35000"/>
                  </a:schemeClr>
                </a:solidFill>
              </a:rPr>
              <a:t>What challenges might we face as the variety, volume, and velocity of these data sources increases? How would you advise addressing these challenges?</a:t>
            </a:r>
          </a:p>
          <a:p>
            <a:pPr marL="0" indent="0">
              <a:buNone/>
            </a:pPr>
            <a:endParaRPr lang="en-US" sz="1800" dirty="0"/>
          </a:p>
          <a:p>
            <a:pPr marL="0" indent="0">
              <a:buNone/>
            </a:pPr>
            <a:r>
              <a:rPr lang="en-US" sz="1800" b="1" dirty="0"/>
              <a:t>Challenges:</a:t>
            </a:r>
          </a:p>
          <a:p>
            <a:r>
              <a:rPr lang="en-US" sz="1800" b="1" dirty="0"/>
              <a:t>Cloud Cost Increase</a:t>
            </a:r>
            <a:r>
              <a:rPr lang="en-US" sz="1800" dirty="0"/>
              <a:t> – can scale fast as new data sources are added, models are built, and user queries are executed.</a:t>
            </a:r>
          </a:p>
          <a:p>
            <a:r>
              <a:rPr lang="en-US" sz="1800" b="1" dirty="0"/>
              <a:t>Maintenance Level of Effort Increase – </a:t>
            </a:r>
            <a:r>
              <a:rPr lang="en-US" sz="1800" dirty="0"/>
              <a:t>will also go up as these new capabilities are added. The more frequently a job runs, the more potential for error handling  and maintenance which will erode new development timelines.</a:t>
            </a:r>
          </a:p>
          <a:p>
            <a:r>
              <a:rPr lang="en-US" sz="1800" b="1" dirty="0"/>
              <a:t>Complexity – </a:t>
            </a:r>
            <a:r>
              <a:rPr lang="en-US" sz="1800" dirty="0"/>
              <a:t>of the data model will grow and knowledge transfer can get lost with turnover.</a:t>
            </a:r>
          </a:p>
          <a:p>
            <a:pPr marL="0" indent="0">
              <a:buNone/>
            </a:pPr>
            <a:endParaRPr lang="en-US" sz="1800" dirty="0"/>
          </a:p>
          <a:p>
            <a:pPr marL="0" indent="0">
              <a:buNone/>
            </a:pPr>
            <a:r>
              <a:rPr lang="en-US" sz="1800" b="1" dirty="0"/>
              <a:t>Strategies to Mitigate Challenges:</a:t>
            </a:r>
          </a:p>
          <a:p>
            <a:r>
              <a:rPr lang="en-US" sz="1800" b="1" dirty="0"/>
              <a:t>Prioritize data frequency and recency </a:t>
            </a:r>
            <a:r>
              <a:rPr lang="en-US" sz="1800" dirty="0"/>
              <a:t>– backup and store historical data that is no longer being used in a way where it is not being constantly queried. Select update timelines that reflect business needs and avoid needless refreshes for better input alignment and maintenance work blocks.</a:t>
            </a:r>
          </a:p>
          <a:p>
            <a:r>
              <a:rPr lang="en-US" sz="1800" b="1" dirty="0"/>
              <a:t>Enforce Code Management, Code Reviews and Documentation Practices </a:t>
            </a:r>
            <a:r>
              <a:rPr lang="en-US" sz="1800" dirty="0"/>
              <a:t>– Tools to backup all code, like GitHub, will help keep code organized. Can help avoid losing legacy knowledge from turnover. The simpler and more accessible the tool, the better.</a:t>
            </a:r>
          </a:p>
          <a:p>
            <a:r>
              <a:rPr lang="en-US" sz="1800" b="1" dirty="0"/>
              <a:t>Strive to Build Enterprise Solutions </a:t>
            </a:r>
            <a:r>
              <a:rPr lang="en-US" sz="1800" dirty="0"/>
              <a:t>– Data Warehouse style / structure guidelines, development / production release cycles, and automation requirements for reporting will all help build data products that run smoothly and can be managed. Developing ad hoc queries can get you information very quickly (excellent for R&amp;D). Use this to build stable solutions, don’t let the amount of these queries pile up and get lost.</a:t>
            </a:r>
          </a:p>
        </p:txBody>
      </p:sp>
    </p:spTree>
    <p:extLst>
      <p:ext uri="{BB962C8B-B14F-4D97-AF65-F5344CB8AC3E}">
        <p14:creationId xmlns:p14="http://schemas.microsoft.com/office/powerpoint/2010/main" val="3951163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89733-2D5A-90D4-406C-ADCD2CA70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7BC2E-587A-BC5C-7C20-C31F20C3B097}"/>
              </a:ext>
            </a:extLst>
          </p:cNvPr>
          <p:cNvSpPr>
            <a:spLocks noGrp="1"/>
          </p:cNvSpPr>
          <p:nvPr>
            <p:ph type="title"/>
          </p:nvPr>
        </p:nvSpPr>
        <p:spPr>
          <a:xfrm>
            <a:off x="838200" y="365125"/>
            <a:ext cx="10515600" cy="766989"/>
          </a:xfrm>
        </p:spPr>
        <p:txBody>
          <a:bodyPr>
            <a:normAutofit/>
          </a:bodyPr>
          <a:lstStyle/>
          <a:p>
            <a:r>
              <a:rPr lang="en-US" dirty="0">
                <a:ln w="0"/>
                <a:solidFill>
                  <a:schemeClr val="accent1"/>
                </a:solidFill>
                <a:effectLst>
                  <a:outerShdw blurRad="38100" dist="25400" dir="5400000" algn="ctr" rotWithShape="0">
                    <a:srgbClr val="6E747A">
                      <a:alpha val="43000"/>
                    </a:srgbClr>
                  </a:outerShdw>
                </a:effectLst>
              </a:rPr>
              <a:t>Prompt 3c</a:t>
            </a:r>
          </a:p>
        </p:txBody>
      </p:sp>
      <p:sp>
        <p:nvSpPr>
          <p:cNvPr id="4" name="Content Placeholder 3">
            <a:extLst>
              <a:ext uri="{FF2B5EF4-FFF2-40B4-BE49-F238E27FC236}">
                <a16:creationId xmlns:a16="http://schemas.microsoft.com/office/drawing/2014/main" id="{BF035B05-1FAD-CD9D-CDF7-E2C9C53A32E8}"/>
              </a:ext>
            </a:extLst>
          </p:cNvPr>
          <p:cNvSpPr>
            <a:spLocks noGrp="1"/>
          </p:cNvSpPr>
          <p:nvPr>
            <p:ph idx="1"/>
          </p:nvPr>
        </p:nvSpPr>
        <p:spPr>
          <a:xfrm>
            <a:off x="838200" y="1132114"/>
            <a:ext cx="10515600" cy="5044849"/>
          </a:xfrm>
        </p:spPr>
        <p:txBody>
          <a:bodyPr>
            <a:normAutofit/>
          </a:bodyPr>
          <a:lstStyle/>
          <a:p>
            <a:pPr marL="0" indent="0">
              <a:buNone/>
            </a:pPr>
            <a:r>
              <a:rPr lang="en-US" sz="1600" dirty="0">
                <a:solidFill>
                  <a:schemeClr val="tx1">
                    <a:lumMod val="65000"/>
                    <a:lumOff val="35000"/>
                  </a:schemeClr>
                </a:solidFill>
              </a:rPr>
              <a:t>What other data sources would be helpful to acquire to help serve the ends described above?</a:t>
            </a:r>
          </a:p>
          <a:p>
            <a:pPr marL="0" indent="0">
              <a:buNone/>
            </a:pPr>
            <a:endParaRPr lang="en-US" sz="1600" dirty="0"/>
          </a:p>
          <a:p>
            <a:pPr marL="0" indent="0">
              <a:buNone/>
            </a:pPr>
            <a:r>
              <a:rPr lang="en-US" sz="1600" dirty="0"/>
              <a:t>In addition, ADT (HIE)  Feeds, EMR Data, Claims Data you could leverage:</a:t>
            </a:r>
          </a:p>
          <a:p>
            <a:r>
              <a:rPr lang="en-US" sz="1600" dirty="0"/>
              <a:t>Medicare Advantage – CMS files (e.g. MMR for patient contract and demographics) – can be difficult to get as insurer manages release to PCPs and likely a gatekeeper for specialists too. </a:t>
            </a:r>
          </a:p>
          <a:p>
            <a:r>
              <a:rPr lang="en-US" sz="1600" dirty="0"/>
              <a:t>PCP / ACO / Insurance data – receiving information from partners related to patient demographics.</a:t>
            </a:r>
          </a:p>
          <a:p>
            <a:r>
              <a:rPr lang="en-US" sz="1600" dirty="0"/>
              <a:t>Third Party Documentation Mining – </a:t>
            </a:r>
            <a:r>
              <a:rPr lang="en-US" sz="1600" dirty="0" err="1"/>
              <a:t>Zus</a:t>
            </a:r>
            <a:r>
              <a:rPr lang="en-US" sz="1600" dirty="0"/>
              <a:t> Health, Appian, etc. who find additional diagnosis and service documentation.</a:t>
            </a:r>
          </a:p>
          <a:p>
            <a:r>
              <a:rPr lang="en-US" sz="1600" dirty="0"/>
              <a:t>Postal Code Lookups, CPT Lookups, NPI Lookups, Diagnosis Code Lookups – All can be used to improve data quality. I added a few of these ad hoc to my example data model to improve outputs.</a:t>
            </a:r>
          </a:p>
          <a:p>
            <a:r>
              <a:rPr lang="en-US" sz="1600" dirty="0"/>
              <a:t>Proprietary Products – Systems that patients interact with beyond the EHR, like </a:t>
            </a:r>
            <a:r>
              <a:rPr lang="en-US" sz="1600" dirty="0" err="1"/>
              <a:t>OrthoPass</a:t>
            </a:r>
            <a:r>
              <a:rPr lang="en-US" sz="1600" dirty="0"/>
              <a:t> / Telescope data.</a:t>
            </a:r>
          </a:p>
        </p:txBody>
      </p:sp>
    </p:spTree>
    <p:extLst>
      <p:ext uri="{BB962C8B-B14F-4D97-AF65-F5344CB8AC3E}">
        <p14:creationId xmlns:p14="http://schemas.microsoft.com/office/powerpoint/2010/main" val="1826138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0AA30-AE09-4C12-FF4F-7029638E0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8376D-2665-C93B-A52A-48B806300BEB}"/>
              </a:ext>
            </a:extLst>
          </p:cNvPr>
          <p:cNvSpPr>
            <a:spLocks noGrp="1"/>
          </p:cNvSpPr>
          <p:nvPr>
            <p:ph type="title"/>
          </p:nvPr>
        </p:nvSpPr>
        <p:spPr>
          <a:xfrm>
            <a:off x="838200" y="365125"/>
            <a:ext cx="10515600" cy="766989"/>
          </a:xfrm>
        </p:spPr>
        <p:txBody>
          <a:bodyPr>
            <a:normAutofit fontScale="90000"/>
          </a:bodyPr>
          <a:lstStyle/>
          <a:p>
            <a:r>
              <a:rPr lang="en-US" dirty="0">
                <a:ln w="0"/>
                <a:solidFill>
                  <a:schemeClr val="accent1"/>
                </a:solidFill>
                <a:effectLst>
                  <a:outerShdw blurRad="38100" dist="25400" dir="5400000" algn="ctr" rotWithShape="0">
                    <a:srgbClr val="6E747A">
                      <a:alpha val="43000"/>
                    </a:srgbClr>
                  </a:outerShdw>
                </a:effectLst>
              </a:rPr>
              <a:t>Appendix A: Source Data Profiling &amp; Simplification</a:t>
            </a:r>
          </a:p>
        </p:txBody>
      </p:sp>
      <p:sp>
        <p:nvSpPr>
          <p:cNvPr id="4" name="Content Placeholder 3">
            <a:extLst>
              <a:ext uri="{FF2B5EF4-FFF2-40B4-BE49-F238E27FC236}">
                <a16:creationId xmlns:a16="http://schemas.microsoft.com/office/drawing/2014/main" id="{F2511A1A-0965-A0AD-9CB2-B60344171188}"/>
              </a:ext>
            </a:extLst>
          </p:cNvPr>
          <p:cNvSpPr>
            <a:spLocks noGrp="1"/>
          </p:cNvSpPr>
          <p:nvPr>
            <p:ph idx="1"/>
          </p:nvPr>
        </p:nvSpPr>
        <p:spPr>
          <a:xfrm>
            <a:off x="838200" y="1502229"/>
            <a:ext cx="10515600" cy="4674734"/>
          </a:xfrm>
        </p:spPr>
        <p:txBody>
          <a:bodyPr>
            <a:normAutofit fontScale="92500" lnSpcReduction="20000"/>
          </a:bodyPr>
          <a:lstStyle/>
          <a:p>
            <a:pPr marL="0" indent="0">
              <a:buNone/>
            </a:pPr>
            <a:r>
              <a:rPr lang="en-US" dirty="0"/>
              <a:t>Review the datasets to evaluate completeness:</a:t>
            </a:r>
          </a:p>
          <a:p>
            <a:pPr marL="0" indent="0">
              <a:buNone/>
            </a:pPr>
            <a:endParaRPr lang="en-US" sz="1100" dirty="0"/>
          </a:p>
          <a:p>
            <a:pPr lvl="1"/>
            <a:r>
              <a:rPr lang="en-US" dirty="0"/>
              <a:t>Updated missing provider NPI details</a:t>
            </a:r>
          </a:p>
          <a:p>
            <a:pPr lvl="2"/>
            <a:r>
              <a:rPr lang="en-US" dirty="0"/>
              <a:t>Manual w/ Google – only two missing fields – typically would use NPI reference dataset.</a:t>
            </a:r>
          </a:p>
          <a:p>
            <a:pPr lvl="1"/>
            <a:r>
              <a:rPr lang="en-US" dirty="0"/>
              <a:t>Added CPT Descriptions for cleaner insights</a:t>
            </a:r>
          </a:p>
          <a:p>
            <a:pPr lvl="2"/>
            <a:r>
              <a:rPr lang="en-US" dirty="0" err="1"/>
              <a:t>Vlookup</a:t>
            </a:r>
            <a:r>
              <a:rPr lang="en-US" dirty="0"/>
              <a:t> – typically would use CPT reference dataset for larger volume.</a:t>
            </a:r>
          </a:p>
          <a:p>
            <a:pPr lvl="1"/>
            <a:r>
              <a:rPr lang="en-US" dirty="0"/>
              <a:t>Added an </a:t>
            </a:r>
            <a:r>
              <a:rPr lang="en-US" dirty="0" err="1"/>
              <a:t>adverse_events_ind</a:t>
            </a:r>
            <a:endParaRPr lang="en-US" dirty="0"/>
          </a:p>
          <a:p>
            <a:pPr lvl="2"/>
            <a:r>
              <a:rPr lang="en-US" dirty="0" err="1"/>
              <a:t>Vlookup</a:t>
            </a:r>
            <a:r>
              <a:rPr lang="en-US" dirty="0"/>
              <a:t> to check that each </a:t>
            </a:r>
            <a:r>
              <a:rPr lang="en-US" dirty="0" err="1"/>
              <a:t>adverse_event</a:t>
            </a:r>
            <a:r>
              <a:rPr lang="en-US" dirty="0"/>
              <a:t> had a matching encounter</a:t>
            </a:r>
          </a:p>
          <a:p>
            <a:pPr lvl="2"/>
            <a:r>
              <a:rPr lang="en-US" dirty="0"/>
              <a:t>With SQL – would use a left join to confirm matches and case statements to create indicator fields.</a:t>
            </a:r>
          </a:p>
          <a:p>
            <a:pPr lvl="1"/>
            <a:r>
              <a:rPr lang="en-US" dirty="0"/>
              <a:t>Added an age field to patient details using an excel formula</a:t>
            </a:r>
          </a:p>
          <a:p>
            <a:pPr lvl="2"/>
            <a:r>
              <a:rPr lang="en-US" dirty="0"/>
              <a:t>Age is better for segmentation and is easier to conceptualize.</a:t>
            </a:r>
          </a:p>
          <a:p>
            <a:pPr lvl="2"/>
            <a:r>
              <a:rPr lang="en-US" dirty="0"/>
              <a:t>Also Re-added as a formula in SQL</a:t>
            </a:r>
          </a:p>
          <a:p>
            <a:pPr marL="0" indent="0">
              <a:buNone/>
            </a:pPr>
            <a:endParaRPr lang="en-US" dirty="0"/>
          </a:p>
          <a:p>
            <a:pPr marL="0" indent="0">
              <a:buNone/>
            </a:pPr>
            <a:r>
              <a:rPr lang="en-US" sz="1700" i="1" dirty="0"/>
              <a:t>* Removed all formulas in excel sheet to maintain values and eliminate errors when importing.</a:t>
            </a:r>
            <a:endParaRPr lang="en-US" dirty="0"/>
          </a:p>
        </p:txBody>
      </p:sp>
    </p:spTree>
    <p:extLst>
      <p:ext uri="{BB962C8B-B14F-4D97-AF65-F5344CB8AC3E}">
        <p14:creationId xmlns:p14="http://schemas.microsoft.com/office/powerpoint/2010/main" val="1586825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555C8-CDC6-4B51-05FB-77BF44E19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28A57-4695-65E1-DF84-01D69B334B1A}"/>
              </a:ext>
            </a:extLst>
          </p:cNvPr>
          <p:cNvSpPr>
            <a:spLocks noGrp="1"/>
          </p:cNvSpPr>
          <p:nvPr>
            <p:ph type="title"/>
          </p:nvPr>
        </p:nvSpPr>
        <p:spPr>
          <a:xfrm>
            <a:off x="838200" y="365125"/>
            <a:ext cx="10515600" cy="766989"/>
          </a:xfrm>
        </p:spPr>
        <p:txBody>
          <a:bodyPr>
            <a:normAutofit/>
          </a:bodyPr>
          <a:lstStyle/>
          <a:p>
            <a:r>
              <a:rPr lang="en-US" dirty="0">
                <a:ln w="0"/>
                <a:solidFill>
                  <a:schemeClr val="accent1"/>
                </a:solidFill>
                <a:effectLst>
                  <a:outerShdw blurRad="38100" dist="25400" dir="5400000" algn="ctr" rotWithShape="0">
                    <a:srgbClr val="6E747A">
                      <a:alpha val="43000"/>
                    </a:srgbClr>
                  </a:outerShdw>
                </a:effectLst>
              </a:rPr>
              <a:t>Appendix B: Attachment Index</a:t>
            </a:r>
          </a:p>
        </p:txBody>
      </p:sp>
      <p:sp>
        <p:nvSpPr>
          <p:cNvPr id="4" name="Content Placeholder 3">
            <a:extLst>
              <a:ext uri="{FF2B5EF4-FFF2-40B4-BE49-F238E27FC236}">
                <a16:creationId xmlns:a16="http://schemas.microsoft.com/office/drawing/2014/main" id="{316A84A4-C946-7A7B-36A6-D42A3D805F9B}"/>
              </a:ext>
            </a:extLst>
          </p:cNvPr>
          <p:cNvSpPr>
            <a:spLocks noGrp="1"/>
          </p:cNvSpPr>
          <p:nvPr>
            <p:ph idx="1"/>
          </p:nvPr>
        </p:nvSpPr>
        <p:spPr>
          <a:xfrm>
            <a:off x="838200" y="1502229"/>
            <a:ext cx="10515600" cy="4674734"/>
          </a:xfrm>
        </p:spPr>
        <p:txBody>
          <a:bodyPr>
            <a:normAutofit/>
          </a:bodyPr>
          <a:lstStyle/>
          <a:p>
            <a:pPr marL="0" indent="0">
              <a:buNone/>
            </a:pPr>
            <a:r>
              <a:rPr lang="en-US" b="1" dirty="0"/>
              <a:t>Data_sets_clean.xlsx</a:t>
            </a:r>
          </a:p>
          <a:p>
            <a:r>
              <a:rPr lang="en-US" dirty="0"/>
              <a:t>Clean version of data prompts used for the stg tables in </a:t>
            </a:r>
            <a:r>
              <a:rPr lang="en-US" dirty="0" err="1"/>
              <a:t>BigQuery</a:t>
            </a:r>
            <a:endParaRPr lang="en-US" dirty="0"/>
          </a:p>
          <a:p>
            <a:pPr marL="0" indent="0">
              <a:buNone/>
            </a:pPr>
            <a:endParaRPr lang="en-US" dirty="0"/>
          </a:p>
          <a:p>
            <a:pPr marL="0" indent="0">
              <a:buNone/>
            </a:pPr>
            <a:r>
              <a:rPr lang="en-US" b="1"/>
              <a:t>SQL </a:t>
            </a:r>
            <a:r>
              <a:rPr lang="en-US" b="1" dirty="0"/>
              <a:t>Scripts.txt</a:t>
            </a:r>
          </a:p>
          <a:p>
            <a:r>
              <a:rPr lang="en-US" dirty="0"/>
              <a:t>All The SQL written to build the datasets</a:t>
            </a:r>
          </a:p>
          <a:p>
            <a:endParaRPr lang="en-US" dirty="0"/>
          </a:p>
          <a:p>
            <a:pPr marL="0" indent="0">
              <a:buNone/>
            </a:pPr>
            <a:r>
              <a:rPr lang="en-US" b="1" dirty="0"/>
              <a:t>Demo Dashboard – link to web</a:t>
            </a:r>
          </a:p>
          <a:p>
            <a:r>
              <a:rPr lang="en-US" dirty="0">
                <a:hlinkClick r:id="rId2"/>
              </a:rPr>
              <a:t>Link to Google Looker Studio </a:t>
            </a:r>
            <a:r>
              <a:rPr lang="en-US" dirty="0"/>
              <a:t>– using </a:t>
            </a:r>
            <a:r>
              <a:rPr lang="en-US" dirty="0" err="1"/>
              <a:t>BigQuery</a:t>
            </a:r>
            <a:r>
              <a:rPr lang="en-US" dirty="0"/>
              <a:t> datasets (found in SQL scripts file) as data sources.</a:t>
            </a:r>
          </a:p>
        </p:txBody>
      </p:sp>
    </p:spTree>
    <p:extLst>
      <p:ext uri="{BB962C8B-B14F-4D97-AF65-F5344CB8AC3E}">
        <p14:creationId xmlns:p14="http://schemas.microsoft.com/office/powerpoint/2010/main" val="812362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507</TotalTime>
  <Words>1371</Words>
  <Application>Microsoft Office PowerPoint</Application>
  <PresentationFormat>Widescreen</PresentationFormat>
  <Paragraphs>132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Roboto Mono</vt:lpstr>
      <vt:lpstr>Office Theme</vt:lpstr>
      <vt:lpstr>Prompt 1a</vt:lpstr>
      <vt:lpstr>Prompt 1b</vt:lpstr>
      <vt:lpstr>Prompt 2a</vt:lpstr>
      <vt:lpstr>Prompt 3a</vt:lpstr>
      <vt:lpstr>Prompt 3b</vt:lpstr>
      <vt:lpstr>Prompt 3c</vt:lpstr>
      <vt:lpstr>Appendix A: Source Data Profiling &amp; Simplification</vt:lpstr>
      <vt:lpstr>Appendix B: Attachment Index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Rick Pflasterer</dc:creator>
  <cp:lastModifiedBy>Rick Pflasterer</cp:lastModifiedBy>
  <cp:revision>145</cp:revision>
  <dcterms:created xsi:type="dcterms:W3CDTF">2025-01-31T19:03:12Z</dcterms:created>
  <dcterms:modified xsi:type="dcterms:W3CDTF">2025-06-05T20:17:22Z</dcterms:modified>
</cp:coreProperties>
</file>